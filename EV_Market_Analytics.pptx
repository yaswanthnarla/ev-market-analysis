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5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4" r:id="rId28"/>
    <p:sldId id="279" r:id="rId29"/>
    <p:sldId id="280" r:id="rId30"/>
    <p:sldId id="281" r:id="rId31"/>
    <p:sldId id="282" r:id="rId32"/>
    <p:sldId id="283" r:id="rId33"/>
  </p:sldIdLst>
  <p:sldSz cx="121935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D32E-04C0-4F76-98E1-B948787EE14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ED821-29DF-4EEF-B47F-6B59C0A14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85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AED821-29DF-4EEF-B47F-6B59C0A1488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38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8040" y="88920"/>
            <a:ext cx="10972800" cy="15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sng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8040" y="15984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spcBef>
                <a:spcPts val="14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sng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2E5FF8D-F49F-435D-AD49-9634D9433D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8040" y="88920"/>
            <a:ext cx="10972800" cy="15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sng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8040" y="15984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marL="343080" indent="-343080">
              <a:lnSpc>
                <a:spcPct val="93000"/>
              </a:lnSpc>
              <a:spcBef>
                <a:spcPts val="14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sng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98CFCD8-2197-461A-8423-4C03E4E1698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8040" y="88920"/>
            <a:ext cx="10972800" cy="15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sng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8040" y="15984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marL="343080" indent="-343080">
              <a:lnSpc>
                <a:spcPct val="93000"/>
              </a:lnSpc>
              <a:spcBef>
                <a:spcPts val="14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sng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93E346D-0729-46C4-BDB8-F284F317350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8040" y="88920"/>
            <a:ext cx="10972800" cy="15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sng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8040" y="15984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marL="343080" indent="-343080">
              <a:lnSpc>
                <a:spcPct val="93000"/>
              </a:lnSpc>
              <a:spcBef>
                <a:spcPts val="14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sng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727ABAB-9294-4EEE-9471-EC5C9BA978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8040" y="88920"/>
            <a:ext cx="10972800" cy="15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sng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8040" y="15984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marL="343080" indent="-343080">
              <a:lnSpc>
                <a:spcPct val="93000"/>
              </a:lnSpc>
              <a:spcBef>
                <a:spcPts val="1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343080" lvl="1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343080" lvl="2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343080" lvl="3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343080" lvl="4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343080" lvl="5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43080" lvl="6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462520" y="6219360"/>
            <a:ext cx="273240" cy="2653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 anchorCtr="1">
            <a:noAutofit/>
          </a:bodyPr>
          <a:lstStyle>
            <a:lvl1pPr marL="216000"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sng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87AA0B9-E139-4BA7-80ED-6B4914868F37}" type="slidenum">
              <a:rPr lang="en-US" sz="1200" b="0" strike="sng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sng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11095200" y="6413040"/>
            <a:ext cx="258480" cy="2494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 anchorCtr="1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776C1C2-A3F1-426C-B0DC-DA670AAC203B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740"/>
          </a:bodyPr>
          <a:lstStyle/>
          <a:p>
            <a:pPr marL="343080" indent="-343080">
              <a:lnSpc>
                <a:spcPct val="93000"/>
              </a:lnSpc>
              <a:spcBef>
                <a:spcPts val="1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343080" lvl="1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343080" lvl="2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343080" lvl="3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343080" lvl="4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343080" lvl="5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43080" lvl="6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Num" idx="3"/>
          </p:nvPr>
        </p:nvSpPr>
        <p:spPr>
          <a:xfrm>
            <a:off x="11095200" y="6413040"/>
            <a:ext cx="258480" cy="24948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ctr" anchorCtr="1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765217-B257-4445-A444-619024B4EB3C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sng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740"/>
          </a:bodyPr>
          <a:lstStyle/>
          <a:p>
            <a:pPr marL="343080" indent="-343080">
              <a:lnSpc>
                <a:spcPct val="93000"/>
              </a:lnSpc>
              <a:spcBef>
                <a:spcPts val="1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343080" lvl="1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343080" lvl="2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343080" lvl="3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343080" lvl="4" indent="-343080">
              <a:lnSpc>
                <a:spcPct val="93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343080" lvl="5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43080" lvl="6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tulluri-venkata-vinay-kumar-15484a227" TargetMode="External"/><Relationship Id="rId2" Type="http://schemas.openxmlformats.org/officeDocument/2006/relationships/hyperlink" Target="https://www.linkedin.com/in/yaswanth-simha-reddy-narla-1a943a280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YaswanthNarla" TargetMode="External"/><Relationship Id="rId4" Type="http://schemas.openxmlformats.org/officeDocument/2006/relationships/hyperlink" Target="https://www.linkedin.com/in/varshini-boddu-1b8913264?utm_source=share&amp;utm_campaign=share_via&amp;utm_content=profile&amp;utm_medium=android_ap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1.png" descr="Google Shape;98;p1"/>
          <p:cNvPicPr/>
          <p:nvPr/>
        </p:nvPicPr>
        <p:blipFill>
          <a:blip r:embed="rId2"/>
          <a:srcRect b="58718"/>
          <a:stretch/>
        </p:blipFill>
        <p:spPr>
          <a:xfrm>
            <a:off x="0" y="-314280"/>
            <a:ext cx="12190320" cy="276228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/>
          <p:cNvSpPr/>
          <p:nvPr/>
        </p:nvSpPr>
        <p:spPr>
          <a:xfrm>
            <a:off x="2517840" y="2376360"/>
            <a:ext cx="715464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sz="2400" dirty="0"/>
            </a:br>
            <a:r>
              <a:rPr lang="en-US" sz="2400" b="0" spc="-1" dirty="0">
                <a:solidFill>
                  <a:srgbClr val="000000"/>
                </a:solidFill>
                <a:latin typeface="Calibri"/>
                <a:ea typeface="Calibri"/>
              </a:rPr>
              <a:t>Web Scraping Project on</a:t>
            </a:r>
            <a:endParaRPr lang="en-US" sz="2400" b="0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sng" spc="-1" dirty="0" err="1">
                <a:solidFill>
                  <a:srgbClr val="FF0000"/>
                </a:solidFill>
                <a:uFillTx/>
                <a:latin typeface="Calibri"/>
                <a:ea typeface="Calibri"/>
              </a:rPr>
              <a:t>Ev</a:t>
            </a:r>
            <a:r>
              <a:rPr lang="en-US" sz="2400" b="0" u="sng" spc="-1" dirty="0">
                <a:solidFill>
                  <a:srgbClr val="FF0000"/>
                </a:solidFill>
                <a:uFillTx/>
                <a:latin typeface="Calibri"/>
                <a:ea typeface="Calibri"/>
              </a:rPr>
              <a:t> Market Analysis Quantifying Consumer Value across Segments</a:t>
            </a:r>
            <a:endParaRPr lang="en-US" sz="2400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06440" y="4746600"/>
            <a:ext cx="3564000" cy="131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sng" spc="-1" dirty="0">
                <a:solidFill>
                  <a:srgbClr val="FF0000"/>
                </a:solidFill>
                <a:uFillTx/>
                <a:latin typeface="Calibri"/>
                <a:ea typeface="Calibri"/>
              </a:rPr>
              <a:t>Presented by:</a:t>
            </a:r>
            <a:endParaRPr lang="en-US" sz="2000" b="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pc="-1" dirty="0" err="1">
                <a:solidFill>
                  <a:srgbClr val="000000"/>
                </a:solidFill>
                <a:latin typeface="Calibri"/>
                <a:ea typeface="Calibri"/>
              </a:rPr>
              <a:t>Narla</a:t>
            </a:r>
            <a:r>
              <a:rPr lang="en-US" sz="2000" b="0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en-US" sz="2000" b="0" spc="-1" dirty="0" err="1">
                <a:solidFill>
                  <a:srgbClr val="000000"/>
                </a:solidFill>
                <a:latin typeface="Calibri"/>
                <a:ea typeface="Calibri"/>
              </a:rPr>
              <a:t>Yaswanth</a:t>
            </a:r>
            <a:r>
              <a:rPr lang="en-US" sz="2000" b="0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en-US" sz="2000" b="0" spc="-1" dirty="0" err="1">
                <a:solidFill>
                  <a:srgbClr val="000000"/>
                </a:solidFill>
                <a:latin typeface="Calibri"/>
                <a:ea typeface="Calibri"/>
              </a:rPr>
              <a:t>Simha</a:t>
            </a:r>
            <a:r>
              <a:rPr lang="en-US" sz="2000" b="0" spc="-1" dirty="0">
                <a:solidFill>
                  <a:srgbClr val="000000"/>
                </a:solidFill>
                <a:latin typeface="Calibri"/>
                <a:ea typeface="Calibri"/>
              </a:rPr>
              <a:t> Reddy</a:t>
            </a:r>
            <a:endParaRPr lang="en-US" sz="2000" b="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pc="-1" dirty="0" err="1">
                <a:solidFill>
                  <a:srgbClr val="000000"/>
                </a:solidFill>
                <a:latin typeface="Calibri"/>
                <a:ea typeface="Calibri"/>
              </a:rPr>
              <a:t>Boddu</a:t>
            </a:r>
            <a:r>
              <a:rPr lang="en-US" sz="2000" b="0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en-US" sz="2000" b="0" spc="-1" dirty="0" err="1">
                <a:solidFill>
                  <a:srgbClr val="000000"/>
                </a:solidFill>
                <a:latin typeface="Calibri"/>
                <a:ea typeface="Calibri"/>
              </a:rPr>
              <a:t>Varshini</a:t>
            </a:r>
            <a:endParaRPr lang="en-US" sz="2000" b="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pc="-1" dirty="0" err="1">
                <a:solidFill>
                  <a:srgbClr val="000000"/>
                </a:solidFill>
                <a:latin typeface="Calibri"/>
                <a:ea typeface="Calibri"/>
              </a:rPr>
              <a:t>Tulluri</a:t>
            </a:r>
            <a:r>
              <a:rPr lang="en-US" sz="2000" b="0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en-US" sz="2000" b="0" spc="-1" dirty="0" err="1">
                <a:solidFill>
                  <a:srgbClr val="000000"/>
                </a:solidFill>
                <a:latin typeface="Calibri"/>
                <a:ea typeface="Calibri"/>
              </a:rPr>
              <a:t>Venkata</a:t>
            </a:r>
            <a:r>
              <a:rPr lang="en-US" sz="2000" b="0" spc="-1" dirty="0">
                <a:solidFill>
                  <a:srgbClr val="000000"/>
                </a:solidFill>
                <a:latin typeface="Calibri"/>
                <a:ea typeface="Calibri"/>
              </a:rPr>
              <a:t> Vinay Kumar</a:t>
            </a:r>
            <a:endParaRPr lang="en-US" sz="2000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6440" y="6067440"/>
            <a:ext cx="3564000" cy="39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sng" spc="-1" dirty="0">
                <a:solidFill>
                  <a:srgbClr val="FF0000"/>
                </a:solidFill>
                <a:uFillTx/>
                <a:latin typeface="Calibri"/>
                <a:ea typeface="Calibri"/>
              </a:rPr>
              <a:t>Batch No: </a:t>
            </a:r>
            <a:r>
              <a:rPr lang="en-US" sz="2000" b="1" u="sng" spc="-1" dirty="0">
                <a:solidFill>
                  <a:srgbClr val="000000"/>
                </a:solidFill>
                <a:uFillTx/>
                <a:latin typeface="Calibri"/>
                <a:ea typeface="Calibri"/>
              </a:rPr>
              <a:t>474</a:t>
            </a:r>
            <a:endParaRPr lang="en-US" sz="2000" b="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782640" y="1298520"/>
            <a:ext cx="9474120" cy="3139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4440" indent="-244440">
              <a:lnSpc>
                <a:spcPct val="100000"/>
              </a:lnSpc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1" spc="-1" dirty="0">
                <a:solidFill>
                  <a:srgbClr val="000000"/>
                </a:solidFill>
                <a:latin typeface="Calibri"/>
                <a:ea typeface="Calibri"/>
              </a:rPr>
              <a:t>L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inkedin profile1 : 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Calibri"/>
                <a:hlinkClick r:id="rId2"/>
              </a:rPr>
              <a:t>https://www.linkedin.com/in/yaswanth-simha-reddy-narla-1a943a280/</a:t>
            </a:r>
            <a:endParaRPr lang="en-US" sz="1800" b="0" u="sng" strike="noStrike" spc="-1" dirty="0">
              <a:solidFill>
                <a:srgbClr val="0000FF"/>
              </a:solidFill>
              <a:uFillTx/>
              <a:latin typeface="Calibri"/>
              <a:ea typeface="Calibri"/>
            </a:endParaRPr>
          </a:p>
          <a:p>
            <a:pPr marL="244440" indent="-244440">
              <a:lnSpc>
                <a:spcPct val="100000"/>
              </a:lnSpc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1" spc="-1" dirty="0">
                <a:solidFill>
                  <a:srgbClr val="000000"/>
                </a:solidFill>
                <a:latin typeface="Calibri"/>
                <a:ea typeface="Calibri"/>
              </a:rPr>
              <a:t>Linkedin profile2 : </a:t>
            </a: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  <a:hlinkClick r:id="rId3" tooltip="https://linkedin.com/in/tulluri-venkata-vinay-kumar-15484a227"/>
              </a:rPr>
              <a:t>https://linkedin.com/in/tulluri-venkata-vinay-kumar-15484a227</a:t>
            </a:r>
            <a:endParaRPr lang="en-US" u="sng" spc="-1" dirty="0">
              <a:solidFill>
                <a:srgbClr val="0000FF"/>
              </a:solidFill>
              <a:latin typeface="Calibri"/>
              <a:ea typeface="Calibri"/>
            </a:endParaRPr>
          </a:p>
          <a:p>
            <a:pPr marL="244440" indent="-244440">
              <a:lnSpc>
                <a:spcPct val="100000"/>
              </a:lnSpc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1" spc="-1" dirty="0">
                <a:solidFill>
                  <a:srgbClr val="000000"/>
                </a:solidFill>
                <a:latin typeface="Calibri"/>
                <a:ea typeface="Calibri"/>
              </a:rPr>
              <a:t>Linkedin profile3 : </a:t>
            </a: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https://www.linkedin.com/in/varshini-boddu-1b8913264</a:t>
            </a:r>
            <a:endParaRPr lang="en-US" sz="1800" strike="noStrike" spc="-1" dirty="0">
              <a:solidFill>
                <a:srgbClr val="000000"/>
              </a:solidFill>
              <a:latin typeface="Arial"/>
            </a:endParaRPr>
          </a:p>
          <a:p>
            <a:pPr marL="244440" indent="-244440">
              <a:lnSpc>
                <a:spcPct val="100000"/>
              </a:lnSpc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4440" indent="-244440">
              <a:lnSpc>
                <a:spcPct val="100000"/>
              </a:lnSpc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1" spc="-1" dirty="0">
                <a:solidFill>
                  <a:srgbClr val="000000"/>
                </a:solidFill>
                <a:latin typeface="Calibri"/>
                <a:ea typeface="Calibri"/>
              </a:rPr>
              <a:t>G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ithub profile1 : 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Calibri"/>
                <a:hlinkClick r:id="rId5"/>
              </a:rPr>
              <a:t>https://github.com/YaswanthNarla</a:t>
            </a:r>
            <a:endParaRPr lang="en-US" sz="1800" b="0" u="sng" strike="noStrike" spc="-1" dirty="0">
              <a:solidFill>
                <a:srgbClr val="0000FF"/>
              </a:solidFill>
              <a:uFillTx/>
              <a:latin typeface="Calibri"/>
              <a:ea typeface="Calibri"/>
            </a:endParaRPr>
          </a:p>
          <a:p>
            <a:pPr marL="244440" indent="-244440"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1" spc="-1" dirty="0">
                <a:solidFill>
                  <a:srgbClr val="000000"/>
                </a:solidFill>
                <a:latin typeface="Calibri"/>
                <a:ea typeface="Calibri"/>
              </a:rPr>
              <a:t>Github profile2 : </a:t>
            </a:r>
            <a:r>
              <a:rPr lang="en-US" u="sng" spc="-1" dirty="0">
                <a:solidFill>
                  <a:srgbClr val="0000FF"/>
                </a:solidFill>
                <a:latin typeface="Calibri"/>
                <a:ea typeface="Calibri"/>
              </a:rPr>
              <a:t>https://github.com/Vinaytulluri</a:t>
            </a:r>
            <a:endParaRPr lang="en-US" b="1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244440" indent="-244440"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1" spc="-1" dirty="0">
                <a:solidFill>
                  <a:srgbClr val="000000"/>
                </a:solidFill>
                <a:latin typeface="Calibri"/>
                <a:ea typeface="Calibri"/>
              </a:rPr>
              <a:t>Github profile3 : </a:t>
            </a:r>
            <a:r>
              <a:rPr lang="en-US" u="sng" spc="-1" dirty="0">
                <a:solidFill>
                  <a:srgbClr val="0000FF"/>
                </a:solidFill>
                <a:latin typeface="Calibri"/>
                <a:ea typeface="Calibri"/>
              </a:rPr>
              <a:t>https://github.com/Varshini-Boddu151</a:t>
            </a:r>
          </a:p>
          <a:p>
            <a:pPr marL="244440" indent="-244440">
              <a:lnSpc>
                <a:spcPct val="100000"/>
              </a:lnSpc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sng" strike="noStrike" spc="-1" dirty="0">
              <a:solidFill>
                <a:srgbClr val="0000FF"/>
              </a:solidFill>
              <a:uFillTx/>
              <a:latin typeface="Calibri"/>
              <a:ea typeface="Calibri"/>
            </a:endParaRPr>
          </a:p>
          <a:p>
            <a:pPr marL="244440" indent="-244440">
              <a:lnSpc>
                <a:spcPct val="100000"/>
              </a:lnSpc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u="sng" spc="-1" dirty="0">
              <a:solidFill>
                <a:srgbClr val="0000FF"/>
              </a:solidFill>
              <a:latin typeface="Calibri"/>
              <a:ea typeface="Calibri"/>
            </a:endParaRPr>
          </a:p>
          <a:p>
            <a:pPr marL="244440" indent="-244440">
              <a:lnSpc>
                <a:spcPct val="100000"/>
              </a:lnSpc>
              <a:buClr>
                <a:srgbClr val="000000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u="sng" spc="-1" dirty="0">
              <a:solidFill>
                <a:srgbClr val="0000FF"/>
              </a:solidFill>
              <a:latin typeface="Calibri"/>
              <a:ea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3040" y="415800"/>
            <a:ext cx="600696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>
              <a:lnSpc>
                <a:spcPct val="8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FF0000"/>
                </a:solidFill>
                <a:latin typeface="Lato Black"/>
                <a:ea typeface="Lato Black"/>
              </a:rPr>
              <a:t>About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546120" y="181590"/>
            <a:ext cx="11096640" cy="738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spc="-1">
                <a:solidFill>
                  <a:srgbClr val="CC0000"/>
                </a:solidFill>
                <a:latin typeface="Calibri"/>
                <a:ea typeface="Calibri"/>
              </a:rPr>
              <a:t>Dataset Description</a:t>
            </a:r>
            <a:endParaRPr lang="en-US" sz="40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87440" y="925560"/>
            <a:ext cx="11212560" cy="30240"/>
          </a:xfrm>
          <a:prstGeom prst="rect">
            <a:avLst/>
          </a:prstGeom>
          <a:solidFill>
            <a:srgbClr val="CC0000"/>
          </a:solidFill>
          <a:ln w="1260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6520" y="1182375"/>
            <a:ext cx="6827760" cy="4451400"/>
          </a:xfrm>
          <a:prstGeom prst="rect">
            <a:avLst/>
          </a:prstGeom>
          <a:solidFill>
            <a:srgbClr val="EBF5FF"/>
          </a:solidFill>
          <a:ln w="2556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-79079760" y="-6012042"/>
            <a:ext cx="6338880" cy="430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pc="-1">
                <a:solidFill>
                  <a:srgbClr val="1B4F8A"/>
                </a:solidFill>
                <a:latin typeface="Calibri"/>
                <a:ea typeface="Calibri"/>
              </a:rPr>
              <a:t>Data Source:  ev-database.org</a:t>
            </a:r>
            <a:endParaRPr lang="en-US" sz="20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34159" y="1271206"/>
            <a:ext cx="6338880" cy="615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r>
              <a:rPr lang="en-US" sz="1600" b="0" i="1" spc="-1" dirty="0">
                <a:solidFill>
                  <a:srgbClr val="1B4F8A"/>
                </a:solidFill>
                <a:latin typeface="Calibri"/>
                <a:ea typeface="Calibri"/>
              </a:rPr>
              <a:t>Website:  </a:t>
            </a:r>
            <a:r>
              <a:rPr lang="en-US" sz="1600" b="0" u="sng" spc="-1" dirty="0">
                <a:solidFill>
                  <a:srgbClr val="0000EE"/>
                </a:solidFill>
                <a:uFillTx/>
                <a:latin typeface="Calibri"/>
                <a:ea typeface="Calibri"/>
              </a:rPr>
              <a:t>https://ev-database.org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r>
              <a:rPr lang="en-US" sz="1600" b="0" i="1" spc="-1" dirty="0">
                <a:solidFill>
                  <a:srgbClr val="1B4F8A"/>
                </a:solidFill>
                <a:latin typeface="Calibri"/>
                <a:ea typeface="Calibri"/>
              </a:rPr>
              <a:t>Website Name : Electric Vehicle </a:t>
            </a:r>
            <a:r>
              <a:rPr lang="en-US" sz="1600" b="0" i="1" spc="-1" dirty="0" err="1">
                <a:solidFill>
                  <a:srgbClr val="1B4F8A"/>
                </a:solidFill>
                <a:latin typeface="Calibri"/>
                <a:ea typeface="Calibri"/>
              </a:rPr>
              <a:t>DataBase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6120" y="1889280"/>
            <a:ext cx="6462720" cy="28440"/>
          </a:xfrm>
          <a:prstGeom prst="rect">
            <a:avLst/>
          </a:prstGeom>
          <a:solidFill>
            <a:srgbClr val="1B4F8A"/>
          </a:solidFill>
          <a:ln w="1260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1479" y="2019528"/>
            <a:ext cx="6338880" cy="23388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r>
              <a:rPr lang="en-US" sz="1600" b="1" spc="-1" dirty="0">
                <a:solidFill>
                  <a:srgbClr val="333333"/>
                </a:solidFill>
                <a:latin typeface="Calibri"/>
                <a:ea typeface="Calibri"/>
              </a:rPr>
              <a:t>ev-database.org</a:t>
            </a:r>
            <a:r>
              <a:rPr lang="en-US" sz="1600" b="0" spc="-1" dirty="0">
                <a:solidFill>
                  <a:srgbClr val="333333"/>
                </a:solidFill>
                <a:latin typeface="Calibri"/>
                <a:ea typeface="Calibri"/>
              </a:rPr>
              <a:t> is one of Europe's most comprehensive EV specification databases, providing real-world performance data across all major manufacturers.</a:t>
            </a:r>
          </a:p>
          <a:p>
            <a:pPr>
              <a:lnSpc>
                <a:spcPct val="100000"/>
              </a:lnSpc>
              <a:tabLst>
                <a:tab pos="0" algn="l"/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endParaRPr lang="en-US" sz="1600" b="0" spc="-1" dirty="0">
              <a:solidFill>
                <a:srgbClr val="333333"/>
              </a:solidFill>
              <a:latin typeface="Calibri"/>
              <a:ea typeface="Calibri"/>
            </a:endParaRPr>
          </a:p>
          <a:p>
            <a:pPr>
              <a:tabLst>
                <a:tab pos="0" algn="l"/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r>
              <a:rPr lang="en-US" sz="1600" spc="-1" dirty="0">
                <a:solidFill>
                  <a:srgbClr val="333333"/>
                </a:solidFill>
                <a:latin typeface="Calibri"/>
                <a:ea typeface="Calibri"/>
              </a:rPr>
              <a:t>The dataset scraped from ev-database.org contains 12,330 records and 11 columns. Covering vehicle specifications such as range, battery capacity, charging speed, efficiency, price and vehicle segment across all major global manufacturers.</a:t>
            </a:r>
            <a:endParaRPr lang="en-US" sz="1600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endParaRPr lang="en-US" sz="1600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-79997400" y="-4806755"/>
            <a:ext cx="6338880" cy="615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spc="-1">
                <a:solidFill>
                  <a:srgbClr val="666666"/>
                </a:solidFill>
                <a:latin typeface="Calibri"/>
                <a:ea typeface="Calibri"/>
              </a:rPr>
              <a:t>10 pages scraped in ~45 seconds  |  18 raw features extracted per EV  |  Saved as EV_Market_Analysis.csv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6120" y="4227227"/>
            <a:ext cx="3537000" cy="430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pc="-1" dirty="0">
                <a:solidFill>
                  <a:srgbClr val="1B4F8A"/>
                </a:solidFill>
                <a:latin typeface="Calibri"/>
                <a:ea typeface="Calibri"/>
              </a:rPr>
              <a:t>Tools Used:</a:t>
            </a:r>
            <a:endParaRPr lang="en-US" sz="2000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7440" y="4776733"/>
            <a:ext cx="6338880" cy="3690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pc="-1" dirty="0">
                <a:solidFill>
                  <a:srgbClr val="333333"/>
                </a:solidFill>
                <a:latin typeface="Calibri"/>
                <a:ea typeface="Calibri"/>
              </a:rPr>
              <a:t>Python  ·  Beautiful Soup  ·  Requests  ·  Pandas  ·  </a:t>
            </a:r>
            <a:r>
              <a:rPr lang="en-US" sz="1600" b="0" spc="-1" dirty="0" err="1">
                <a:solidFill>
                  <a:srgbClr val="333333"/>
                </a:solidFill>
                <a:latin typeface="Calibri"/>
                <a:ea typeface="Calibri"/>
              </a:rPr>
              <a:t>Matplotlib</a:t>
            </a:r>
            <a:r>
              <a:rPr lang="en-US" sz="1600" b="0" spc="-1" dirty="0">
                <a:solidFill>
                  <a:srgbClr val="333333"/>
                </a:solidFill>
                <a:latin typeface="Calibri"/>
                <a:ea typeface="Calibri"/>
              </a:rPr>
              <a:t>  ·  </a:t>
            </a:r>
            <a:r>
              <a:rPr lang="en-US" sz="1600" b="0" spc="-1" dirty="0" err="1">
                <a:solidFill>
                  <a:srgbClr val="333333"/>
                </a:solidFill>
                <a:latin typeface="Calibri"/>
                <a:ea typeface="Calibri"/>
              </a:rPr>
              <a:t>Seaborn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558200" y="1119240"/>
            <a:ext cx="4265640" cy="1000080"/>
          </a:xfrm>
          <a:prstGeom prst="rect">
            <a:avLst/>
          </a:prstGeom>
          <a:solidFill>
            <a:srgbClr val="FFF0F0"/>
          </a:solidFill>
          <a:ln w="2556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16879" y="1077270"/>
            <a:ext cx="1958635" cy="738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spc="-1" dirty="0">
                <a:solidFill>
                  <a:srgbClr val="CC0000"/>
                </a:solidFill>
                <a:latin typeface="Calibri"/>
                <a:ea typeface="Calibri"/>
              </a:rPr>
              <a:t>12,330</a:t>
            </a:r>
            <a:endParaRPr lang="en-US" sz="4000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263160" y="1164915"/>
            <a:ext cx="2316240" cy="3690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1A1A2E"/>
                </a:solidFill>
                <a:latin typeface="Calibri"/>
                <a:ea typeface="Calibri"/>
              </a:rPr>
              <a:t>Total Records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263160" y="1543948"/>
            <a:ext cx="2316240" cy="2921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spc="-1">
                <a:solidFill>
                  <a:srgbClr val="666666"/>
                </a:solidFill>
                <a:latin typeface="Calibri"/>
                <a:ea typeface="Calibri"/>
              </a:rPr>
              <a:t>Unique EV configurations</a:t>
            </a:r>
            <a:endParaRPr lang="en-US" sz="11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558200" y="2243160"/>
            <a:ext cx="4265640" cy="998640"/>
          </a:xfrm>
          <a:prstGeom prst="rect">
            <a:avLst/>
          </a:prstGeom>
          <a:solidFill>
            <a:srgbClr val="F0FFF4"/>
          </a:solidFill>
          <a:ln w="25560">
            <a:solidFill>
              <a:srgbClr val="1557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764480" y="2199390"/>
            <a:ext cx="1339920" cy="738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spc="-1">
                <a:solidFill>
                  <a:srgbClr val="155724"/>
                </a:solidFill>
                <a:latin typeface="Calibri"/>
                <a:ea typeface="Calibri"/>
              </a:rPr>
              <a:t>11</a:t>
            </a:r>
            <a:endParaRPr lang="en-US" sz="40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63160" y="2286675"/>
            <a:ext cx="2316240" cy="3690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1A1A2E"/>
                </a:solidFill>
                <a:latin typeface="Calibri"/>
                <a:ea typeface="Calibri"/>
              </a:rPr>
              <a:t>Total Features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263160" y="2666068"/>
            <a:ext cx="2316240" cy="2921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spc="-1">
                <a:solidFill>
                  <a:srgbClr val="666666"/>
                </a:solidFill>
                <a:latin typeface="Calibri"/>
                <a:ea typeface="Calibri"/>
              </a:rPr>
              <a:t>Raw columns after scraping</a:t>
            </a:r>
            <a:endParaRPr lang="en-US" sz="11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558200" y="3362400"/>
            <a:ext cx="4265640" cy="1000080"/>
          </a:xfrm>
          <a:prstGeom prst="rect">
            <a:avLst/>
          </a:prstGeom>
          <a:solidFill>
            <a:srgbClr val="FFFBEC"/>
          </a:solidFill>
          <a:ln w="25560">
            <a:solidFill>
              <a:srgbClr val="85640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764480" y="3320790"/>
            <a:ext cx="1339920" cy="738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spc="-1">
                <a:solidFill>
                  <a:srgbClr val="856404"/>
                </a:solidFill>
                <a:latin typeface="Calibri"/>
                <a:ea typeface="Calibri"/>
              </a:rPr>
              <a:t>8</a:t>
            </a:r>
            <a:endParaRPr lang="en-US" sz="40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263160" y="3408075"/>
            <a:ext cx="2316240" cy="3690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1A1A2E"/>
                </a:solidFill>
                <a:latin typeface="Calibri"/>
                <a:ea typeface="Calibri"/>
              </a:rPr>
              <a:t>Vehicle Segments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263160" y="3787828"/>
            <a:ext cx="2316240" cy="2921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spc="-1">
                <a:solidFill>
                  <a:srgbClr val="666666"/>
                </a:solidFill>
                <a:latin typeface="Calibri"/>
                <a:ea typeface="Calibri"/>
              </a:rPr>
              <a:t>A-Mini to F-Luxury + Sports</a:t>
            </a:r>
            <a:endParaRPr lang="en-US" sz="11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558200" y="4486320"/>
            <a:ext cx="4265640" cy="1000080"/>
          </a:xfrm>
          <a:prstGeom prst="rect">
            <a:avLst/>
          </a:prstGeom>
          <a:solidFill>
            <a:srgbClr val="EBF5FF"/>
          </a:solidFill>
          <a:ln w="2556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764480" y="4442550"/>
            <a:ext cx="1339920" cy="738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spc="-1">
                <a:solidFill>
                  <a:srgbClr val="1B4F8A"/>
                </a:solidFill>
                <a:latin typeface="Calibri"/>
                <a:ea typeface="Calibri"/>
              </a:rPr>
              <a:t>EUR</a:t>
            </a:r>
            <a:endParaRPr lang="en-US" sz="40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263160" y="4529835"/>
            <a:ext cx="2316240" cy="3690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1A1A2E"/>
                </a:solidFill>
                <a:latin typeface="Calibri"/>
                <a:ea typeface="Calibri"/>
              </a:rPr>
              <a:t>Market Coverage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263160" y="4911028"/>
            <a:ext cx="2316240" cy="2921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spc="-1">
                <a:solidFill>
                  <a:srgbClr val="666666"/>
                </a:solidFill>
                <a:latin typeface="Calibri"/>
                <a:ea typeface="Calibri"/>
              </a:rPr>
              <a:t>Germany pricing (€)</a:t>
            </a:r>
            <a:endParaRPr lang="en-US" sz="1100" b="0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8040" y="88920"/>
            <a:ext cx="10972800" cy="15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pc="-1" dirty="0">
                <a:solidFill>
                  <a:srgbClr val="FF0000"/>
                </a:solidFill>
                <a:latin typeface="Arial"/>
              </a:rPr>
              <a:t>Website UI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8040" y="15984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93000"/>
              </a:lnSpc>
              <a:spcBef>
                <a:spcPts val="14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sng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image3.jpeg" descr="pasted-image.jpeg"/>
          <p:cNvPicPr/>
          <p:nvPr/>
        </p:nvPicPr>
        <p:blipFill>
          <a:blip r:embed="rId2"/>
          <a:stretch/>
        </p:blipFill>
        <p:spPr>
          <a:xfrm>
            <a:off x="182520" y="1415879"/>
            <a:ext cx="11825280" cy="5257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Web Scraped —&gt; Raw Data.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image4.jpeg" descr="pasted-image.jpeg"/>
          <p:cNvPicPr/>
          <p:nvPr/>
        </p:nvPicPr>
        <p:blipFill>
          <a:blip r:embed="rId2"/>
          <a:stretch/>
        </p:blipFill>
        <p:spPr>
          <a:xfrm>
            <a:off x="182520" y="1098720"/>
            <a:ext cx="11825280" cy="5600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546120" y="230760"/>
            <a:ext cx="11096640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1" spc="-1">
                <a:solidFill>
                  <a:srgbClr val="CC0000"/>
                </a:solidFill>
                <a:latin typeface="Calibri"/>
                <a:ea typeface="Calibri"/>
              </a:rPr>
              <a:t>Column Transformation</a:t>
            </a:r>
            <a:endParaRPr lang="en-US" sz="3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87440" y="925560"/>
            <a:ext cx="11212560" cy="30240"/>
          </a:xfrm>
          <a:prstGeom prst="rect">
            <a:avLst/>
          </a:prstGeom>
          <a:solidFill>
            <a:srgbClr val="CC0000"/>
          </a:solidFill>
          <a:ln w="1260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63600" y="1119240"/>
            <a:ext cx="2681280" cy="561960"/>
          </a:xfrm>
          <a:prstGeom prst="rect">
            <a:avLst/>
          </a:prstGeom>
          <a:solidFill>
            <a:srgbClr val="FFF0F0"/>
          </a:solidFill>
          <a:ln w="2556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6120" y="122148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>
                <a:solidFill>
                  <a:srgbClr val="CC0000"/>
                </a:solidFill>
                <a:latin typeface="Courier New"/>
                <a:ea typeface="Courier New"/>
              </a:rPr>
              <a:t>germany price eur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63600" y="1874880"/>
            <a:ext cx="2681280" cy="561960"/>
          </a:xfrm>
          <a:prstGeom prst="rect">
            <a:avLst/>
          </a:prstGeom>
          <a:solidFill>
            <a:srgbClr val="FFF0F0"/>
          </a:solidFill>
          <a:ln w="2556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6120" y="197712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>
                <a:solidFill>
                  <a:srgbClr val="CC0000"/>
                </a:solidFill>
                <a:latin typeface="Courier New"/>
                <a:ea typeface="Courier New"/>
              </a:rPr>
              <a:t>price_per_range_km our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63600" y="2630520"/>
            <a:ext cx="2681280" cy="561960"/>
          </a:xfrm>
          <a:prstGeom prst="rect">
            <a:avLst/>
          </a:prstGeom>
          <a:solidFill>
            <a:srgbClr val="FFF0F0"/>
          </a:solidFill>
          <a:ln w="2556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46120" y="273276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>
                <a:solidFill>
                  <a:srgbClr val="CC0000"/>
                </a:solidFill>
                <a:latin typeface="Courier New"/>
                <a:ea typeface="Courier New"/>
              </a:rPr>
              <a:t>segment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3600" y="3389400"/>
            <a:ext cx="2681280" cy="558720"/>
          </a:xfrm>
          <a:prstGeom prst="rect">
            <a:avLst/>
          </a:prstGeom>
          <a:solidFill>
            <a:srgbClr val="F8F9FA"/>
          </a:solidFill>
          <a:ln w="2556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46120" y="348840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pc="-1">
                <a:solidFill>
                  <a:srgbClr val="666666"/>
                </a:solidFill>
                <a:latin typeface="Courier New"/>
                <a:ea typeface="Courier New"/>
              </a:rPr>
              <a:t>range_km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63600" y="4145040"/>
            <a:ext cx="2681280" cy="558720"/>
          </a:xfrm>
          <a:prstGeom prst="rect">
            <a:avLst/>
          </a:prstGeom>
          <a:solidFill>
            <a:srgbClr val="F8F9FA"/>
          </a:solidFill>
          <a:ln w="2556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46120" y="424476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pc="-1">
                <a:solidFill>
                  <a:srgbClr val="666666"/>
                </a:solidFill>
                <a:latin typeface="Courier New"/>
                <a:ea typeface="Courier New"/>
              </a:rPr>
              <a:t>battery_kwh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63600" y="4900680"/>
            <a:ext cx="2681280" cy="558720"/>
          </a:xfrm>
          <a:prstGeom prst="rect">
            <a:avLst/>
          </a:prstGeom>
          <a:solidFill>
            <a:srgbClr val="F8F9FA"/>
          </a:solidFill>
          <a:ln w="2556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546120" y="500148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pc="-1">
                <a:solidFill>
                  <a:srgbClr val="666666"/>
                </a:solidFill>
                <a:latin typeface="Courier New"/>
                <a:ea typeface="Courier New"/>
              </a:rPr>
              <a:t>fast_charge_kw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351240" y="1119240"/>
            <a:ext cx="8375760" cy="658800"/>
          </a:xfrm>
          <a:prstGeom prst="rect">
            <a:avLst/>
          </a:prstGeom>
          <a:solidFill>
            <a:srgbClr val="FFF0F0"/>
          </a:solidFill>
          <a:ln w="2556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594240" y="1203120"/>
            <a:ext cx="804852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CC0000"/>
                </a:solidFill>
                <a:latin typeface="Calibri"/>
                <a:ea typeface="Calibri"/>
              </a:rPr>
              <a:t>Germany_Price(€) — String to Float Conversion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351240" y="2459160"/>
            <a:ext cx="8251920" cy="598320"/>
          </a:xfrm>
          <a:prstGeom prst="rect">
            <a:avLst/>
          </a:prstGeom>
          <a:solidFill>
            <a:srgbClr val="EBF5FF"/>
          </a:solidFill>
          <a:ln w="2556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516480" y="2557440"/>
            <a:ext cx="80452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1B4F8A"/>
                </a:solidFill>
                <a:latin typeface="Calibri"/>
                <a:ea typeface="Calibri"/>
              </a:rPr>
              <a:t>Price_per_Range(/km) — Remove Units and Convert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63600" y="5699160"/>
            <a:ext cx="11523600" cy="279360"/>
          </a:xfrm>
          <a:prstGeom prst="rect">
            <a:avLst/>
          </a:prstGeom>
          <a:solidFill>
            <a:srgbClr val="FFEEEE"/>
          </a:solidFill>
          <a:ln w="2556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08040" y="5708520"/>
            <a:ext cx="1103472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pc="-1">
                <a:solidFill>
                  <a:srgbClr val="333333"/>
                </a:solidFill>
                <a:latin typeface="Calibri"/>
                <a:ea typeface="Calibri"/>
              </a:rPr>
              <a:t>All 3 transformations: Currency/unit regex extraction for numeric conversion; Segment letter codes mapped to readable descriptive labels for visualizations.</a:t>
            </a:r>
            <a:endParaRPr lang="en-US" sz="10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351240" y="3598920"/>
            <a:ext cx="8251920" cy="581040"/>
          </a:xfrm>
          <a:prstGeom prst="rect">
            <a:avLst/>
          </a:prstGeom>
          <a:solidFill>
            <a:srgbClr val="FFF0F0"/>
          </a:solidFill>
          <a:ln w="2556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452760" y="3709080"/>
            <a:ext cx="804852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CC0000"/>
                </a:solidFill>
                <a:latin typeface="Calibri"/>
                <a:ea typeface="Calibri"/>
              </a:rPr>
              <a:t>Segment  —  Single Letter to Descriptive Label (A→A-Mini, B→B-Compact, etc.)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3351240" y="5003640"/>
            <a:ext cx="8251920" cy="420840"/>
            <a:chOff x="3351240" y="5003640"/>
            <a:chExt cx="8251920" cy="420840"/>
          </a:xfrm>
        </p:grpSpPr>
        <p:sp>
          <p:nvSpPr>
            <p:cNvPr id="78" name="Rectangle 77"/>
            <p:cNvSpPr/>
            <p:nvPr/>
          </p:nvSpPr>
          <p:spPr>
            <a:xfrm>
              <a:off x="3351240" y="5003640"/>
              <a:ext cx="8251920" cy="420840"/>
            </a:xfrm>
            <a:prstGeom prst="rect">
              <a:avLst/>
            </a:prstGeom>
            <a:solidFill>
              <a:srgbClr val="F0F4FF"/>
            </a:solidFill>
            <a:ln w="25560">
              <a:solidFill>
                <a:srgbClr val="1B4F8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363840" y="5084280"/>
              <a:ext cx="822636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spc="-1">
                  <a:solidFill>
                    <a:srgbClr val="1B4F8A"/>
                  </a:solidFill>
                  <a:latin typeface="Calibri"/>
                  <a:ea typeface="Calibri"/>
                </a:rPr>
                <a:t>A→A-Mini  |  B→B-Compact  |  C→C-Medium  |  D→D-Large  |  E→E-Executive  |  F→F-Luxury  |  N→Passenger Van  |  S→Sports</a:t>
              </a:r>
              <a:endParaRPr lang="en-US" sz="1100" b="0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546120" y="230760"/>
            <a:ext cx="11096640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1" spc="-1">
                <a:solidFill>
                  <a:srgbClr val="CC0000"/>
                </a:solidFill>
                <a:latin typeface="Calibri"/>
                <a:ea typeface="Calibri"/>
              </a:rPr>
              <a:t>Column Transformation</a:t>
            </a:r>
            <a:endParaRPr lang="en-US" sz="3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87440" y="925560"/>
            <a:ext cx="11212560" cy="30240"/>
          </a:xfrm>
          <a:prstGeom prst="rect">
            <a:avLst/>
          </a:prstGeom>
          <a:solidFill>
            <a:srgbClr val="CC0000"/>
          </a:solidFill>
          <a:ln w="1260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363600" y="1119240"/>
            <a:ext cx="2681280" cy="561960"/>
          </a:xfrm>
          <a:prstGeom prst="rect">
            <a:avLst/>
          </a:prstGeom>
          <a:solidFill>
            <a:srgbClr val="F8F9FA"/>
          </a:solidFill>
          <a:ln w="2556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46120" y="122148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pc="-1">
                <a:solidFill>
                  <a:srgbClr val="666666"/>
                </a:solidFill>
                <a:latin typeface="Courier New"/>
                <a:ea typeface="Courier New"/>
              </a:rPr>
              <a:t>germany_price_eur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363600" y="1874880"/>
            <a:ext cx="2681280" cy="561960"/>
          </a:xfrm>
          <a:prstGeom prst="rect">
            <a:avLst/>
          </a:prstGeom>
          <a:solidFill>
            <a:srgbClr val="F8F9FA"/>
          </a:solidFill>
          <a:ln w="2556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46120" y="197712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pc="-1">
                <a:solidFill>
                  <a:srgbClr val="666666"/>
                </a:solidFill>
                <a:latin typeface="Courier New"/>
                <a:ea typeface="Courier New"/>
              </a:rPr>
              <a:t>price_per_range_km_eur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63600" y="2630520"/>
            <a:ext cx="2681280" cy="561960"/>
          </a:xfrm>
          <a:prstGeom prst="rect">
            <a:avLst/>
          </a:prstGeom>
          <a:solidFill>
            <a:srgbClr val="F8F9FA"/>
          </a:solidFill>
          <a:ln w="2556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46120" y="273276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pc="-1">
                <a:solidFill>
                  <a:srgbClr val="666666"/>
                </a:solidFill>
                <a:latin typeface="Courier New"/>
                <a:ea typeface="Courier New"/>
              </a:rPr>
              <a:t>segment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63600" y="3389400"/>
            <a:ext cx="2681280" cy="558720"/>
          </a:xfrm>
          <a:prstGeom prst="rect">
            <a:avLst/>
          </a:prstGeom>
          <a:solidFill>
            <a:srgbClr val="EBF5FF"/>
          </a:solidFill>
          <a:ln w="2556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46120" y="348840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>
                <a:solidFill>
                  <a:srgbClr val="1B4F8A"/>
                </a:solidFill>
                <a:latin typeface="Courier New"/>
                <a:ea typeface="Courier New"/>
              </a:rPr>
              <a:t>range_km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363600" y="4145040"/>
            <a:ext cx="2681280" cy="558720"/>
          </a:xfrm>
          <a:prstGeom prst="rect">
            <a:avLst/>
          </a:prstGeom>
          <a:solidFill>
            <a:srgbClr val="EBF5FF"/>
          </a:solidFill>
          <a:ln w="2556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46120" y="424476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>
                <a:solidFill>
                  <a:srgbClr val="1B4F8A"/>
                </a:solidFill>
                <a:latin typeface="Courier New"/>
                <a:ea typeface="Courier New"/>
              </a:rPr>
              <a:t>battery_kwh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63600" y="4900680"/>
            <a:ext cx="2681280" cy="558720"/>
          </a:xfrm>
          <a:prstGeom prst="rect">
            <a:avLst/>
          </a:prstGeom>
          <a:solidFill>
            <a:srgbClr val="EBF5FF"/>
          </a:solidFill>
          <a:ln w="2556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46120" y="5001480"/>
            <a:ext cx="23162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>
                <a:solidFill>
                  <a:srgbClr val="1B4F8A"/>
                </a:solidFill>
                <a:latin typeface="Courier New"/>
                <a:ea typeface="Courier New"/>
              </a:rPr>
              <a:t>fast_charge_kw</a:t>
            </a:r>
            <a:endParaRPr lang="en-US" sz="12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351240" y="1119240"/>
            <a:ext cx="8534520" cy="534960"/>
          </a:xfrm>
          <a:prstGeom prst="rect">
            <a:avLst/>
          </a:prstGeom>
          <a:solidFill>
            <a:srgbClr val="EBF5FF"/>
          </a:solidFill>
          <a:ln w="2556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594240" y="1203120"/>
            <a:ext cx="804852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1B4F8A"/>
                </a:solidFill>
                <a:latin typeface="Calibri"/>
                <a:ea typeface="Calibri"/>
              </a:rPr>
              <a:t>range_km  —  Extract Numeric from '620km'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3351240" y="2840040"/>
            <a:ext cx="8534520" cy="627120"/>
          </a:xfrm>
          <a:prstGeom prst="rect">
            <a:avLst/>
          </a:prstGeom>
          <a:solidFill>
            <a:srgbClr val="F0FFF4"/>
          </a:solidFill>
          <a:ln w="25560">
            <a:solidFill>
              <a:srgbClr val="1557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3594240" y="2922480"/>
            <a:ext cx="804852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155724"/>
                </a:solidFill>
                <a:latin typeface="Calibri"/>
                <a:ea typeface="Calibri"/>
              </a:rPr>
              <a:t>battery_kwh  —  Extract Numeric from '100kWh'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3351240" y="4545000"/>
            <a:ext cx="8534520" cy="533520"/>
          </a:xfrm>
          <a:prstGeom prst="rect">
            <a:avLst/>
          </a:prstGeom>
          <a:solidFill>
            <a:srgbClr val="FFFBEC"/>
          </a:solidFill>
          <a:ln w="25560">
            <a:solidFill>
              <a:srgbClr val="85640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3594240" y="4628880"/>
            <a:ext cx="804852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856404"/>
                </a:solidFill>
                <a:latin typeface="Calibri"/>
                <a:ea typeface="Calibri"/>
              </a:rPr>
              <a:t>fast_charge_kw  —  Extract Numeric from '250kW'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363600" y="6361200"/>
            <a:ext cx="11523600" cy="341280"/>
          </a:xfrm>
          <a:prstGeom prst="rect">
            <a:avLst/>
          </a:prstGeom>
          <a:solidFill>
            <a:srgbClr val="EBF5FF"/>
          </a:solidFill>
          <a:ln w="25560">
            <a:solidFill>
              <a:srgbClr val="1B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608040" y="6407280"/>
            <a:ext cx="1103472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pc="-1">
                <a:solidFill>
                  <a:srgbClr val="333333"/>
                </a:solidFill>
                <a:latin typeface="Calibri"/>
                <a:ea typeface="Calibri"/>
              </a:rPr>
              <a:t>Scraped HTML text contains units like '620 km' or '100kWh' — regex r'(\d+)' extracts only the numeric portion. Converted to int64 for range, float64 for battery and charge speed.</a:t>
            </a:r>
            <a:endParaRPr lang="en-US" sz="1000" b="0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 dirty="0">
                <a:solidFill>
                  <a:srgbClr val="FF0000"/>
                </a:solidFill>
                <a:latin typeface="Calibri"/>
                <a:ea typeface="Calibri"/>
              </a:rPr>
              <a:t>Web Scraping — Final DataFrame Output</a:t>
            </a:r>
            <a:endParaRPr lang="en-US" sz="2800" b="0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3" name="Group 102"/>
          <p:cNvGrpSpPr/>
          <p:nvPr/>
        </p:nvGrpSpPr>
        <p:grpSpPr>
          <a:xfrm>
            <a:off x="7740720" y="1123920"/>
            <a:ext cx="4394160" cy="5100840"/>
            <a:chOff x="7740720" y="1123920"/>
            <a:chExt cx="4394160" cy="5100840"/>
          </a:xfrm>
        </p:grpSpPr>
        <p:sp>
          <p:nvSpPr>
            <p:cNvPr id="104" name="Rectangle 103"/>
            <p:cNvSpPr/>
            <p:nvPr/>
          </p:nvSpPr>
          <p:spPr>
            <a:xfrm>
              <a:off x="7740720" y="1123920"/>
              <a:ext cx="4394160" cy="5100840"/>
            </a:xfrm>
            <a:prstGeom prst="rect">
              <a:avLst/>
            </a:prstGeom>
            <a:solidFill>
              <a:srgbClr val="FFF8F8"/>
            </a:solidFill>
            <a:ln w="9360">
              <a:solidFill>
                <a:srgbClr val="FFCCCC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7813800" y="1142640"/>
              <a:ext cx="4249440" cy="354990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 marL="92160" indent="-92160">
                <a:lnSpc>
                  <a:spcPct val="93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2000" b="1" spc="-1" dirty="0">
                  <a:solidFill>
                    <a:srgbClr val="CC0000"/>
                  </a:solidFill>
                  <a:latin typeface="Calibri"/>
                  <a:ea typeface="Calibri"/>
                </a:rPr>
                <a:t>Data Collection Summary</a:t>
              </a:r>
              <a:endParaRPr lang="en-US" sz="20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Source: ev-database.org  10 pages scraped in 45 seconds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12,330 EV records | 11 raw features extracted per vehicle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Fields include: Range, Battery, FastCharge, Price (3 countries), Segment, Seats.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93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2000" b="1" spc="-1" dirty="0">
                  <a:solidFill>
                    <a:srgbClr val="CC0000"/>
                  </a:solidFill>
                  <a:latin typeface="Calibri"/>
                  <a:ea typeface="Calibri"/>
                </a:rPr>
                <a:t>Goal</a:t>
              </a:r>
              <a:endParaRPr lang="en-US" sz="20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Quantify true consumer value across EV segments using data science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92160" indent="-92160">
                <a:lnSpc>
                  <a:spcPct val="83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Move beyond price then compare segments on range, efficiency, and cost-per-km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06" name="image5.jpeg" descr="pasted-image.jpeg"/>
          <p:cNvPicPr/>
          <p:nvPr/>
        </p:nvPicPr>
        <p:blipFill>
          <a:blip r:embed="rId2"/>
          <a:stretch/>
        </p:blipFill>
        <p:spPr>
          <a:xfrm>
            <a:off x="182520" y="1531800"/>
            <a:ext cx="7456680" cy="3791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/>
          <p:cNvSpPr/>
          <p:nvPr/>
        </p:nvSpPr>
        <p:spPr>
          <a:xfrm>
            <a:off x="546120" y="230760"/>
            <a:ext cx="11096640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1" spc="-1">
                <a:solidFill>
                  <a:srgbClr val="CC0000"/>
                </a:solidFill>
                <a:latin typeface="Calibri"/>
                <a:ea typeface="Calibri"/>
              </a:rPr>
              <a:t>Column Description</a:t>
            </a:r>
            <a:endParaRPr lang="en-US" sz="3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487440" y="925560"/>
            <a:ext cx="11212560" cy="30240"/>
          </a:xfrm>
          <a:prstGeom prst="rect">
            <a:avLst/>
          </a:prstGeom>
          <a:solidFill>
            <a:srgbClr val="CC0000"/>
          </a:solidFill>
          <a:ln w="1260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02230"/>
              </p:ext>
            </p:extLst>
          </p:nvPr>
        </p:nvGraphicFramePr>
        <p:xfrm>
          <a:off x="2125420" y="1274466"/>
          <a:ext cx="7942709" cy="38487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0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Column</a:t>
                      </a:r>
                      <a:endParaRPr lang="en-US" sz="1100" b="1" dirty="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Type</a:t>
                      </a:r>
                      <a:endParaRPr lang="en-US" sz="1100" b="1" dirty="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effectLst/>
                        </a:rPr>
                        <a:t>Description</a:t>
                      </a:r>
                      <a:endParaRPr lang="en-US" sz="1100" b="1" dirty="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brand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Object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EV manufacturer name (e.g., Tesla, BMW, Hyundai, Porsche)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unique_id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Integer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Unique identifier extracted from the vehicle URL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range_km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Integer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Real-world driving range on a full charge (km)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Efficiency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wh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km</a:t>
                      </a:r>
                      <a:endParaRPr lang="en-US" sz="1100" dirty="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Integer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Energy consumed per km (</a:t>
                      </a:r>
                      <a:r>
                        <a:rPr lang="en-US" sz="1400" dirty="0" err="1">
                          <a:effectLst/>
                        </a:rPr>
                        <a:t>Wh</a:t>
                      </a:r>
                      <a:r>
                        <a:rPr lang="en-US" sz="1400" dirty="0">
                          <a:effectLst/>
                        </a:rPr>
                        <a:t>/km) — lower = more efficient</a:t>
                      </a:r>
                      <a:endParaRPr lang="en-US" sz="1100" dirty="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acceleration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Float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Time to accelerate 0–100 km/h (seconds)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Battery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kwh</a:t>
                      </a:r>
                      <a:endParaRPr lang="en-US" sz="1100" dirty="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Float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Total usable battery capacity (kWh)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fast_charge_kw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Float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Maximum DC fast charging power (kW)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Cargo </a:t>
                      </a:r>
                      <a:r>
                        <a:rPr lang="en-US" sz="1400" dirty="0" err="1">
                          <a:effectLst/>
                        </a:rPr>
                        <a:t>capacity_l</a:t>
                      </a:r>
                      <a:endParaRPr lang="en-US" sz="1100" dirty="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Float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Cargo/boot space in litres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germany_price_eur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Float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New vehicle price in Germany (EUR)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segment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Object</a:t>
                      </a:r>
                      <a:endParaRPr lang="en-US" sz="110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Vehicle market segment (A-Mini to F-Luxury, S-Sports)</a:t>
                      </a:r>
                      <a:endParaRPr lang="en-US" sz="1100" dirty="0">
                        <a:solidFill>
                          <a:srgbClr val="538135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/>
          <p:nvPr/>
        </p:nvSpPr>
        <p:spPr>
          <a:xfrm>
            <a:off x="546120" y="230760"/>
            <a:ext cx="11096640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1" spc="-1">
                <a:solidFill>
                  <a:srgbClr val="CC0000"/>
                </a:solidFill>
                <a:latin typeface="Calibri"/>
                <a:ea typeface="Calibri"/>
              </a:rPr>
              <a:t>Info about the data.</a:t>
            </a:r>
            <a:endParaRPr lang="en-US" sz="34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87440" y="925560"/>
            <a:ext cx="11212560" cy="30240"/>
          </a:xfrm>
          <a:prstGeom prst="rect">
            <a:avLst/>
          </a:prstGeom>
          <a:solidFill>
            <a:srgbClr val="CC0000"/>
          </a:solidFill>
          <a:ln w="1260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7558200" y="1071720"/>
            <a:ext cx="4329000" cy="5548320"/>
          </a:xfrm>
          <a:prstGeom prst="rect">
            <a:avLst/>
          </a:prstGeom>
          <a:solidFill>
            <a:srgbClr val="F8F9FA"/>
          </a:solidFill>
          <a:ln w="25560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802640" y="1154520"/>
            <a:ext cx="389880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>
                <a:solidFill>
                  <a:srgbClr val="CC0000"/>
                </a:solidFill>
                <a:latin typeface="Calibri"/>
                <a:ea typeface="Calibri"/>
              </a:rPr>
              <a:t>Observations:</a:t>
            </a:r>
            <a:endParaRPr lang="en-US" sz="16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7802640" y="1533600"/>
            <a:ext cx="3898800" cy="30377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840" tIns="60840" rIns="60840" bIns="60840" anchor="t">
            <a:spAutoFit/>
          </a:bodyPr>
          <a:lstStyle/>
          <a:p>
            <a:pPr marL="365040" indent="-365040">
              <a:lnSpc>
                <a:spcPct val="150000"/>
              </a:lnSpc>
              <a:buClr>
                <a:srgbClr val="333333"/>
              </a:buClr>
              <a:buFont typeface="Calibri"/>
              <a:buChar char="•"/>
              <a:tabLst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r>
              <a:rPr lang="en-US" sz="1600" b="0" spc="-1" dirty="0">
                <a:solidFill>
                  <a:srgbClr val="333333"/>
                </a:solidFill>
                <a:latin typeface="Calibri"/>
                <a:ea typeface="Calibri"/>
              </a:rPr>
              <a:t>Output shows dataset AFTER column transformation but BEFORE handling missing values.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365040" indent="-365040">
              <a:lnSpc>
                <a:spcPct val="150000"/>
              </a:lnSpc>
              <a:tabLst>
                <a:tab pos="0" algn="l"/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365040" indent="-365040">
              <a:lnSpc>
                <a:spcPct val="150000"/>
              </a:lnSpc>
              <a:buClr>
                <a:srgbClr val="333333"/>
              </a:buClr>
              <a:buFont typeface="Calibri"/>
              <a:buChar char="•"/>
              <a:tabLst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r>
              <a:rPr lang="en-US" sz="1600" b="0" spc="-1" dirty="0">
                <a:solidFill>
                  <a:srgbClr val="333333"/>
                </a:solidFill>
                <a:latin typeface="Calibri"/>
                <a:ea typeface="Calibri"/>
              </a:rPr>
              <a:t>cargo_capacity_l: 270 missing (2.2%) germany_price_eur: 910 missing (7.4%) 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365040" indent="-365040">
              <a:lnSpc>
                <a:spcPct val="150000"/>
              </a:lnSpc>
              <a:buClr>
                <a:srgbClr val="333333"/>
              </a:buClr>
              <a:buFont typeface="Calibri"/>
              <a:buChar char="•"/>
              <a:tabLst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365040" indent="-365040">
              <a:lnSpc>
                <a:spcPct val="150000"/>
              </a:lnSpc>
              <a:buClr>
                <a:srgbClr val="333333"/>
              </a:buClr>
              <a:buFont typeface="Calibri"/>
              <a:buChar char="•"/>
              <a:tabLst>
                <a:tab pos="1219320" algn="l"/>
                <a:tab pos="2425680" algn="l"/>
                <a:tab pos="3657600" algn="l"/>
                <a:tab pos="4876920" algn="l"/>
                <a:tab pos="6083280" algn="l"/>
                <a:tab pos="7315200" algn="l"/>
                <a:tab pos="8534520" algn="l"/>
                <a:tab pos="9740880" algn="l"/>
                <a:tab pos="10058400" algn="l"/>
              </a:tabLst>
            </a:pPr>
            <a:r>
              <a:rPr lang="en-US" sz="1600" b="0" spc="-1" dirty="0">
                <a:solidFill>
                  <a:srgbClr val="333333"/>
                </a:solidFill>
                <a:latin typeface="Calibri"/>
                <a:ea typeface="Calibri"/>
              </a:rPr>
              <a:t>Duplicates not yet removed.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957AF-5716-1568-839E-E55247924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40" y="1154520"/>
            <a:ext cx="6599160" cy="5472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Data Cleaning Process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8" name="Group 117"/>
          <p:cNvGrpSpPr/>
          <p:nvPr/>
        </p:nvGrpSpPr>
        <p:grpSpPr>
          <a:xfrm>
            <a:off x="250920" y="2275208"/>
            <a:ext cx="6900840" cy="3279286"/>
            <a:chOff x="297000" y="1351080"/>
            <a:chExt cx="6900840" cy="5103720"/>
          </a:xfrm>
        </p:grpSpPr>
        <p:sp>
          <p:nvSpPr>
            <p:cNvPr id="119" name="Rectangle 118"/>
            <p:cNvSpPr/>
            <p:nvPr/>
          </p:nvSpPr>
          <p:spPr>
            <a:xfrm>
              <a:off x="297000" y="1355760"/>
              <a:ext cx="6900840" cy="5099040"/>
            </a:xfrm>
            <a:prstGeom prst="rect">
              <a:avLst/>
            </a:prstGeom>
            <a:solidFill>
              <a:srgbClr val="F0F4F9"/>
            </a:solidFill>
            <a:ln w="9360">
              <a:solidFill>
                <a:srgbClr val="BED0E8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369360" y="1351080"/>
              <a:ext cx="6755760" cy="36549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# Step 1: Column Renaming — snake case standardization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# Step 2: Data Type Fix 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# Step 3: Numeric Extraction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# Step 4: Segment Label Mapping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# Step 5: Remove Duplicates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7270200" y="1351080"/>
            <a:ext cx="4897440" cy="5433151"/>
            <a:chOff x="7270200" y="1351080"/>
            <a:chExt cx="4897440" cy="5433151"/>
          </a:xfrm>
        </p:grpSpPr>
        <p:sp>
          <p:nvSpPr>
            <p:cNvPr id="122" name="Rectangle 121"/>
            <p:cNvSpPr/>
            <p:nvPr/>
          </p:nvSpPr>
          <p:spPr>
            <a:xfrm>
              <a:off x="7270200" y="1351080"/>
              <a:ext cx="4897440" cy="5433151"/>
            </a:xfrm>
            <a:prstGeom prst="rect">
              <a:avLst/>
            </a:prstGeom>
            <a:solidFill>
              <a:srgbClr val="FFF8F8"/>
            </a:solidFill>
            <a:ln w="9360">
              <a:solidFill>
                <a:srgbClr val="FFCCCC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7320240" y="1377720"/>
              <a:ext cx="4752360" cy="535642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 marL="120600" indent="-120600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1" spc="-1" dirty="0">
                  <a:solidFill>
                    <a:srgbClr val="CC0000"/>
                  </a:solidFill>
                  <a:latin typeface="Calibri"/>
                  <a:ea typeface="Calibri"/>
                </a:rPr>
                <a:t>What &amp; Why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Columns renamed to </a:t>
              </a:r>
              <a:r>
                <a:rPr lang="en-US" sz="1300" b="0" spc="-1" dirty="0" err="1">
                  <a:solidFill>
                    <a:srgbClr val="212121"/>
                  </a:solidFill>
                  <a:latin typeface="Calibri"/>
                  <a:ea typeface="Calibri"/>
                </a:rPr>
                <a:t>snake_case</a:t>
              </a: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 for consistent Python-style access across all downstream code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 err="1">
                  <a:solidFill>
                    <a:srgbClr val="212121"/>
                  </a:solidFill>
                  <a:latin typeface="Calibri"/>
                  <a:ea typeface="Calibri"/>
                </a:rPr>
                <a:t>price_per_range_km_eur</a:t>
              </a: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 had "euro" and "/km" string suffixes — must be numeric for analysis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Scraped HTML text contains units like "620 km" or "100kWh" — regex extracts only the number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Segment letters (A/B/C/D/F/S) are mapped to descriptive labels for readable charts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1" spc="-1" dirty="0">
                  <a:solidFill>
                    <a:srgbClr val="1D794D"/>
                  </a:solidFill>
                  <a:latin typeface="Calibri"/>
                  <a:ea typeface="Calibri"/>
                </a:rPr>
                <a:t>Outcome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All 13 columns are properly typed: int64, float64, object (categorical)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20600" indent="-12060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Dataset is clean, consistent and ready for feature engineering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Missing Value Handling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5" name="Group 124"/>
          <p:cNvGrpSpPr/>
          <p:nvPr/>
        </p:nvGrpSpPr>
        <p:grpSpPr>
          <a:xfrm>
            <a:off x="208080" y="1371600"/>
            <a:ext cx="6900840" cy="5097600"/>
            <a:chOff x="208080" y="1371600"/>
            <a:chExt cx="6900840" cy="5097600"/>
          </a:xfrm>
        </p:grpSpPr>
        <p:sp>
          <p:nvSpPr>
            <p:cNvPr id="126" name="Rectangle 125"/>
            <p:cNvSpPr/>
            <p:nvPr/>
          </p:nvSpPr>
          <p:spPr>
            <a:xfrm>
              <a:off x="208080" y="1371600"/>
              <a:ext cx="6900840" cy="5097600"/>
            </a:xfrm>
            <a:prstGeom prst="rect">
              <a:avLst/>
            </a:prstGeom>
            <a:solidFill>
              <a:srgbClr val="F0F4F9"/>
            </a:solidFill>
            <a:ln w="9360">
              <a:solidFill>
                <a:srgbClr val="BED0E8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279720" y="1399680"/>
              <a:ext cx="6755760" cy="136193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Detecting : </a:t>
              </a:r>
              <a:r>
                <a:rPr lang="en-US" sz="1100" b="0" spc="-1" dirty="0" err="1">
                  <a:solidFill>
                    <a:srgbClr val="1A4E8C"/>
                  </a:solidFill>
                  <a:latin typeface="Courier New"/>
                  <a:ea typeface="Courier New"/>
                </a:rPr>
                <a:t>df.isnull</a:t>
              </a: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().sum()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# Strategy 1: Domain Knowledge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# Strategy 2: Range Group Buckets for imputation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# Strategy 3: Segment-wise median imputation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8" name="image6.jpeg" descr="pasted-image.jpeg"/>
            <p:cNvPicPr/>
            <p:nvPr/>
          </p:nvPicPr>
          <p:blipFill>
            <a:blip r:embed="rId2"/>
            <a:stretch/>
          </p:blipFill>
          <p:spPr>
            <a:xfrm>
              <a:off x="265320" y="3022560"/>
              <a:ext cx="3171600" cy="3044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9" name="image7.jpeg" descr="pasted-image.jpeg"/>
            <p:cNvPicPr/>
            <p:nvPr/>
          </p:nvPicPr>
          <p:blipFill>
            <a:blip r:embed="rId3"/>
            <a:stretch/>
          </p:blipFill>
          <p:spPr>
            <a:xfrm>
              <a:off x="3950280" y="2927520"/>
              <a:ext cx="2788200" cy="32673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0" name="Group 129"/>
          <p:cNvGrpSpPr/>
          <p:nvPr/>
        </p:nvGrpSpPr>
        <p:grpSpPr>
          <a:xfrm>
            <a:off x="7248600" y="1092239"/>
            <a:ext cx="4897440" cy="5454475"/>
            <a:chOff x="7248600" y="1092239"/>
            <a:chExt cx="4897440" cy="5386047"/>
          </a:xfrm>
        </p:grpSpPr>
        <p:sp>
          <p:nvSpPr>
            <p:cNvPr id="131" name="Rectangle 130"/>
            <p:cNvSpPr/>
            <p:nvPr/>
          </p:nvSpPr>
          <p:spPr>
            <a:xfrm>
              <a:off x="7248600" y="1092239"/>
              <a:ext cx="4897440" cy="5386047"/>
            </a:xfrm>
            <a:prstGeom prst="rect">
              <a:avLst/>
            </a:prstGeom>
            <a:solidFill>
              <a:srgbClr val="FFF8F8"/>
            </a:solidFill>
            <a:ln w="9360">
              <a:solidFill>
                <a:srgbClr val="FFCCCC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7320960" y="1377720"/>
              <a:ext cx="4752360" cy="50240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 marL="163440" indent="-163440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1" spc="-1" dirty="0">
                  <a:solidFill>
                    <a:srgbClr val="CC0000"/>
                  </a:solidFill>
                  <a:latin typeface="Calibri"/>
                  <a:ea typeface="Calibri"/>
                </a:rPr>
                <a:t>Imputation Rationale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germany_price_eur: 7.4% missing is significant. Segment-wise median preserves market-level price characteristics instead of using a global average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Cargo</a:t>
              </a:r>
              <a:r>
                <a:rPr lang="en-US" sz="1300" spc="-1" dirty="0">
                  <a:solidFill>
                    <a:srgbClr val="212121"/>
                  </a:solidFill>
                  <a:latin typeface="Calibri"/>
                  <a:ea typeface="Calibri"/>
                </a:rPr>
                <a:t>_</a:t>
              </a: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capacity_l: Missing varies by body style. Segment-wise median fills realistically based on similar vehicles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price: Group-wise fill  ensures we do not mix ultra-cheap city EVs with premium long-range when imputing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600" b="1" spc="-1" dirty="0">
                  <a:solidFill>
                    <a:srgbClr val="195B99"/>
                  </a:solidFill>
                  <a:latin typeface="Calibri"/>
                  <a:ea typeface="Calibri"/>
                </a:rPr>
                <a:t>Why groupby().transform()?</a:t>
              </a:r>
              <a:endParaRPr lang="en-US" sz="16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transform() preserves the original DataFrame index, enabling in-place conditional fill without merge complexity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63440" indent="-163440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Result: 0 missing values across all 11 columns after imputation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 dirty="0">
                <a:solidFill>
                  <a:srgbClr val="FF0000"/>
                </a:solidFill>
                <a:latin typeface="Calibri"/>
                <a:ea typeface="Calibri"/>
              </a:rPr>
              <a:t>Outlier Detection</a:t>
            </a:r>
            <a:endParaRPr lang="en-US" sz="2800" b="0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354436" y="2187216"/>
            <a:ext cx="3998880" cy="3093278"/>
            <a:chOff x="-354752" y="1143375"/>
            <a:chExt cx="3998880" cy="5986746"/>
          </a:xfrm>
        </p:grpSpPr>
        <p:sp>
          <p:nvSpPr>
            <p:cNvPr id="135" name="Rectangle 134"/>
            <p:cNvSpPr/>
            <p:nvPr/>
          </p:nvSpPr>
          <p:spPr>
            <a:xfrm>
              <a:off x="-354752" y="1143375"/>
              <a:ext cx="3998880" cy="5986746"/>
            </a:xfrm>
            <a:prstGeom prst="rect">
              <a:avLst/>
            </a:prstGeom>
            <a:solidFill>
              <a:srgbClr val="F0F4F9"/>
            </a:solidFill>
            <a:ln w="9360">
              <a:solidFill>
                <a:srgbClr val="BED0E8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-354752" y="1156302"/>
              <a:ext cx="3853800" cy="394167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def detect_outliers(data, column):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Q1 = data[column].quantile(0.25)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Q3 = data[column].quantile(0.75)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IQR = Q3 - Q1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lower = Q1 - 1.5 * IQR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upper = Q3 + 1.5 * IQR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return {‘col':column,'lower':lower,'upper':upper}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def cap_outliers(data, column):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Q1 = data[column].quantile(0.25)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Q3 = data[column].quantile(0.75)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IQR = Q3 - Q1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data[column] = data[column].clip(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    Q1 - 1.5*IQR, Q3 + 1.5*IQR)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return data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for col in numeric_cols: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100" b="0" spc="-1" dirty="0">
                  <a:solidFill>
                    <a:srgbClr val="1A4E8C"/>
                  </a:solidFill>
                  <a:latin typeface="Courier New"/>
                  <a:ea typeface="Courier New"/>
                </a:rPr>
                <a:t>   df = cap_outliers(df, col)</a:t>
              </a: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>
                <a:lnSpc>
                  <a:spcPct val="8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endParaRPr lang="en-US" sz="1100" b="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7" name="image8.jpeg" descr="pasted-image.jpeg"/>
          <p:cNvPicPr/>
          <p:nvPr/>
        </p:nvPicPr>
        <p:blipFill>
          <a:blip r:embed="rId2"/>
          <a:stretch/>
        </p:blipFill>
        <p:spPr>
          <a:xfrm>
            <a:off x="5156886" y="932968"/>
            <a:ext cx="6507891" cy="560177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CAE22-2E4C-2269-1D4C-C2A7B9B4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86FA65A8-D8C1-D519-44F3-AF620767263D}"/>
              </a:ext>
            </a:extLst>
          </p:cNvPr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 dirty="0">
                <a:solidFill>
                  <a:srgbClr val="FF0000"/>
                </a:solidFill>
                <a:latin typeface="Calibri"/>
                <a:ea typeface="Calibri"/>
              </a:rPr>
              <a:t>Outlier Handling</a:t>
            </a:r>
            <a:endParaRPr lang="en-US" sz="2800" b="0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52689D2-476C-4327-BD0C-EDCCD92B367C}"/>
              </a:ext>
            </a:extLst>
          </p:cNvPr>
          <p:cNvGrpSpPr/>
          <p:nvPr/>
        </p:nvGrpSpPr>
        <p:grpSpPr>
          <a:xfrm>
            <a:off x="250920" y="2496117"/>
            <a:ext cx="4431747" cy="2500154"/>
            <a:chOff x="-354752" y="1143375"/>
            <a:chExt cx="3998880" cy="5986746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01D8E62-75F7-2CCE-9D49-88BD0C04B4A8}"/>
                </a:ext>
              </a:extLst>
            </p:cNvPr>
            <p:cNvSpPr/>
            <p:nvPr/>
          </p:nvSpPr>
          <p:spPr>
            <a:xfrm>
              <a:off x="-354752" y="1143375"/>
              <a:ext cx="3998880" cy="5986746"/>
            </a:xfrm>
            <a:prstGeom prst="rect">
              <a:avLst/>
            </a:prstGeom>
            <a:solidFill>
              <a:srgbClr val="F0F4F9"/>
            </a:solidFill>
            <a:ln w="9360">
              <a:solidFill>
                <a:srgbClr val="BED0E8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596D373-0566-F93D-D785-CE1CE91EB1F0}"/>
                </a:ext>
              </a:extLst>
            </p:cNvPr>
            <p:cNvSpPr/>
            <p:nvPr/>
          </p:nvSpPr>
          <p:spPr>
            <a:xfrm>
              <a:off x="-354752" y="1156303"/>
              <a:ext cx="3853800" cy="384358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 marL="15840" indent="-15840" algn="just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500" b="1" spc="-1" dirty="0">
                  <a:solidFill>
                    <a:srgbClr val="195B99"/>
                  </a:solidFill>
                  <a:latin typeface="Calibri"/>
                  <a:ea typeface="Calibri"/>
                </a:rPr>
                <a:t>Why Not Deletion?</a:t>
              </a:r>
              <a:endParaRPr lang="en-US" sz="15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Deleting outliers loses valid data (ultra-premium models have legitimately extreme prices)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  <a:p>
              <a:pPr marL="15840" indent="-1584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3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Capping retains these records while preventing them from distorting statistical measures</a:t>
              </a:r>
              <a:endParaRPr lang="en-US" sz="1300" b="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8" name="image9.jpeg" descr="pasted-image.jpeg">
            <a:extLst>
              <a:ext uri="{FF2B5EF4-FFF2-40B4-BE49-F238E27FC236}">
                <a16:creationId xmlns:a16="http://schemas.microsoft.com/office/drawing/2014/main" id="{E0E9C50E-21C3-953E-7F5C-954576714FB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61686" y="1223348"/>
            <a:ext cx="6385703" cy="5045692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97410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8040" y="88920"/>
            <a:ext cx="10972800" cy="15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3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pc="-1">
                <a:solidFill>
                  <a:srgbClr val="000000"/>
                </a:solidFill>
                <a:latin typeface="Calibri"/>
                <a:ea typeface="Calibri"/>
              </a:rPr>
              <a:t>Duplicate values</a:t>
            </a:r>
            <a:endParaRPr lang="en-US" sz="4400" b="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image10.jpeg" descr="pasted-image.jpeg"/>
          <p:cNvPicPr/>
          <p:nvPr/>
        </p:nvPicPr>
        <p:blipFill>
          <a:blip r:embed="rId2"/>
          <a:stretch/>
        </p:blipFill>
        <p:spPr>
          <a:xfrm>
            <a:off x="538200" y="1219320"/>
            <a:ext cx="9761400" cy="5495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Feature Engineering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2" name="Group 141"/>
          <p:cNvGrpSpPr/>
          <p:nvPr/>
        </p:nvGrpSpPr>
        <p:grpSpPr>
          <a:xfrm>
            <a:off x="6264360" y="220680"/>
            <a:ext cx="5792760" cy="6027840"/>
            <a:chOff x="6264360" y="220680"/>
            <a:chExt cx="5792760" cy="6027840"/>
          </a:xfrm>
        </p:grpSpPr>
        <p:sp>
          <p:nvSpPr>
            <p:cNvPr id="143" name="Rectangle 142"/>
            <p:cNvSpPr/>
            <p:nvPr/>
          </p:nvSpPr>
          <p:spPr>
            <a:xfrm>
              <a:off x="6264360" y="220680"/>
              <a:ext cx="5792760" cy="6027840"/>
            </a:xfrm>
            <a:prstGeom prst="rect">
              <a:avLst/>
            </a:prstGeom>
            <a:solidFill>
              <a:srgbClr val="F0F7FF"/>
            </a:solidFill>
            <a:ln w="9360">
              <a:solidFill>
                <a:srgbClr val="BDD7F0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6276960" y="932968"/>
              <a:ext cx="5621400" cy="482550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 marL="95400" indent="-95400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b="1" spc="-1" dirty="0">
                  <a:solidFill>
                    <a:srgbClr val="CC0000"/>
                  </a:solidFill>
                  <a:latin typeface="Calibri"/>
                  <a:ea typeface="Calibri"/>
                </a:rPr>
                <a:t>Why Engineer These Features?</a:t>
              </a:r>
              <a:endParaRPr lang="en-US" b="0" spc="-1" dirty="0">
                <a:solidFill>
                  <a:srgbClr val="000000"/>
                </a:solidFill>
                <a:latin typeface="Arial"/>
              </a:endParaRPr>
            </a:p>
            <a:p>
              <a:pPr marL="95400" indent="-9540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Raw features alone (price, range, battery) do not answer the key question: "Which segment gives best VALUE?”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  <a:p>
              <a:pPr marL="95400" indent="-9540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range_per_kwh exposes EFFICIENCY — two vehicles with the same battery can differ by 20% in km delivered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  <a:p>
              <a:pPr marL="95400" indent="-9540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price_per_km is the single most consumer-relevant metric — it directly answers "what am I paying per km?”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  <a:p>
              <a:pPr marL="95400" indent="-9540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charge_speed_per_kwh normalizes charging speed by battery size — a 250kW charger means less on a 100kWh battery than on a 60kWh one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  <a:p>
              <a:pPr marL="95400" indent="-95400" algn="just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b="1" spc="-1" dirty="0">
                  <a:solidFill>
                    <a:srgbClr val="195B99"/>
                  </a:solidFill>
                  <a:latin typeface="Calibri"/>
                  <a:ea typeface="Calibri"/>
                </a:rPr>
                <a:t>Business Insight These Enable</a:t>
              </a:r>
              <a:endParaRPr lang="en-US" b="0" spc="-1" dirty="0">
                <a:solidFill>
                  <a:srgbClr val="000000"/>
                </a:solidFill>
                <a:latin typeface="Arial"/>
              </a:endParaRPr>
            </a:p>
            <a:p>
              <a:pPr marL="95400" indent="-9540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With these 3 features, we can rank every segment on value, efficiency, and convenience in one pivot table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  <a:p>
              <a:pPr marL="95400" indent="-9540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The analysis becomes segment-comparative, not just descriptive — driving actionable recommendations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343080" y="1382760"/>
            <a:ext cx="5611680" cy="4892760"/>
            <a:chOff x="343080" y="1382760"/>
            <a:chExt cx="5611680" cy="4892760"/>
          </a:xfrm>
        </p:grpSpPr>
        <p:sp>
          <p:nvSpPr>
            <p:cNvPr id="146" name="Rectangle 145"/>
            <p:cNvSpPr/>
            <p:nvPr/>
          </p:nvSpPr>
          <p:spPr>
            <a:xfrm>
              <a:off x="343080" y="1382760"/>
              <a:ext cx="5611680" cy="4892760"/>
            </a:xfrm>
            <a:prstGeom prst="rect">
              <a:avLst/>
            </a:prstGeom>
            <a:solidFill>
              <a:srgbClr val="F0F7FF"/>
            </a:solidFill>
            <a:ln w="9360">
              <a:solidFill>
                <a:srgbClr val="BDD7F0"/>
              </a:solidFill>
              <a:round/>
            </a:ln>
            <a:effectLst>
              <a:outerShdw rotWithShape="0">
                <a:srgbClr val="000000">
                  <a:alpha val="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endParaRPr lang="en-US" sz="1800" b="0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412740" y="2113927"/>
              <a:ext cx="5472360" cy="288651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000" tIns="45000" rIns="45000" bIns="45000" anchor="t">
              <a:spAutoFit/>
            </a:bodyPr>
            <a:lstStyle/>
            <a:p>
              <a:pPr marL="119160" indent="-119160" algn="just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b="1" spc="-1" dirty="0">
                  <a:solidFill>
                    <a:srgbClr val="195B99"/>
                  </a:solidFill>
                  <a:latin typeface="Calibri"/>
                  <a:ea typeface="Calibri"/>
                </a:rPr>
                <a:t>What Makes This Unique?</a:t>
              </a:r>
              <a:endParaRPr lang="en-US" b="0" spc="-1" dirty="0">
                <a:solidFill>
                  <a:srgbClr val="000000"/>
                </a:solidFill>
                <a:latin typeface="Arial"/>
              </a:endParaRPr>
            </a:p>
            <a:p>
              <a:pPr marL="119160" indent="-11916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We do not just describe the data — we build engineered value metrics that consumers can directly use for decisions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  <a:p>
              <a:pPr marL="119160" indent="-119160" algn="just">
                <a:lnSpc>
                  <a:spcPct val="150000"/>
                </a:lnSpc>
                <a:spcBef>
                  <a:spcPts val="201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b="1" spc="-1" dirty="0">
                  <a:solidFill>
                    <a:srgbClr val="195B99"/>
                  </a:solidFill>
                  <a:latin typeface="Calibri"/>
                  <a:ea typeface="Calibri"/>
                </a:rPr>
                <a:t>Key Engineered Metrics</a:t>
              </a:r>
              <a:endParaRPr lang="en-US" b="0" spc="-1" dirty="0">
                <a:solidFill>
                  <a:srgbClr val="000000"/>
                </a:solidFill>
                <a:latin typeface="Arial"/>
              </a:endParaRPr>
            </a:p>
            <a:p>
              <a:pPr marL="119160" indent="-11916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Price_per_km: How much money you spend per km of range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  <a:p>
              <a:pPr marL="119160" indent="-11916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range_per_kwh: How efficiently the battery delivers distance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  <a:p>
              <a:pPr marL="119160" indent="-119160" algn="just">
                <a:lnSpc>
                  <a:spcPct val="150000"/>
                </a:lnSpc>
                <a:buClr>
                  <a:srgbClr val="000000"/>
                </a:buClr>
                <a:buSzPct val="45000"/>
                <a:buFont typeface="Calibri"/>
                <a:buChar char="•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400" b="0" spc="-1" dirty="0" err="1">
                  <a:solidFill>
                    <a:srgbClr val="212121"/>
                  </a:solidFill>
                  <a:latin typeface="Calibri"/>
                  <a:ea typeface="Calibri"/>
                </a:rPr>
                <a:t>Charge</a:t>
              </a:r>
              <a:r>
                <a:rPr lang="en-US" sz="1400" spc="-1" dirty="0" err="1">
                  <a:solidFill>
                    <a:srgbClr val="212121"/>
                  </a:solidFill>
                  <a:latin typeface="Calibri"/>
                  <a:ea typeface="Calibri"/>
                </a:rPr>
                <a:t>_</a:t>
              </a:r>
              <a:r>
                <a:rPr lang="en-US" sz="1400" b="0" spc="-1" dirty="0" err="1">
                  <a:solidFill>
                    <a:srgbClr val="212121"/>
                  </a:solidFill>
                  <a:latin typeface="Calibri"/>
                  <a:ea typeface="Calibri"/>
                </a:rPr>
                <a:t>speed</a:t>
              </a:r>
              <a:r>
                <a:rPr lang="en-US" sz="1400" spc="-1" dirty="0" err="1">
                  <a:solidFill>
                    <a:srgbClr val="212121"/>
                  </a:solidFill>
                  <a:latin typeface="Calibri"/>
                  <a:ea typeface="Calibri"/>
                </a:rPr>
                <a:t>_</a:t>
              </a:r>
              <a:r>
                <a:rPr lang="en-US" sz="1400" b="0" spc="-1" dirty="0" err="1">
                  <a:solidFill>
                    <a:srgbClr val="212121"/>
                  </a:solidFill>
                  <a:latin typeface="Calibri"/>
                  <a:ea typeface="Calibri"/>
                </a:rPr>
                <a:t>per_kwh</a:t>
              </a:r>
              <a:r>
                <a:rPr lang="en-US" sz="1400" b="0" spc="-1" dirty="0">
                  <a:solidFill>
                    <a:srgbClr val="212121"/>
                  </a:solidFill>
                  <a:latin typeface="Calibri"/>
                  <a:ea typeface="Calibri"/>
                </a:rPr>
                <a:t>: How fast the vehicle charges relative to its battery size.</a:t>
              </a:r>
              <a:endParaRPr lang="en-US" sz="1400" b="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Univariate Analysis — Range Distribution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320760" y="2911320"/>
            <a:ext cx="5608440" cy="12597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28520" indent="-128520">
              <a:lnSpc>
                <a:spcPct val="84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500" b="1" spc="-1">
                <a:solidFill>
                  <a:srgbClr val="CC0000"/>
                </a:solidFill>
                <a:latin typeface="Calibri"/>
                <a:ea typeface="Calibri"/>
              </a:rPr>
              <a:t>Insight</a:t>
            </a:r>
            <a:endParaRPr lang="en-US" sz="1500" b="0" spc="-1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84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500" b="0" spc="-1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75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>
                <a:solidFill>
                  <a:srgbClr val="000000"/>
                </a:solidFill>
                <a:latin typeface="Calibri"/>
                <a:ea typeface="Calibri"/>
              </a:rPr>
              <a:t>Distribution is right-skewed; peak at 350–450 km</a:t>
            </a:r>
            <a:endParaRPr lang="en-US" sz="1300" b="0" spc="-1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7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300" b="0" spc="-1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75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>
                <a:solidFill>
                  <a:srgbClr val="000000"/>
                </a:solidFill>
                <a:latin typeface="Calibri"/>
                <a:ea typeface="Calibri"/>
              </a:rPr>
              <a:t>Market optimizing for balanced usable range, not extreme long-range</a:t>
            </a:r>
            <a:endParaRPr lang="en-US" sz="1300" b="0" spc="-1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7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300" b="0" spc="-1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75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>
                <a:solidFill>
                  <a:srgbClr val="000000"/>
                </a:solidFill>
                <a:latin typeface="Calibri"/>
                <a:ea typeface="Calibri"/>
              </a:rPr>
              <a:t>Short-range A/B vehicles (under 250 km) target urban-only use cases</a:t>
            </a:r>
            <a:endParaRPr lang="en-US" sz="1300" b="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image11.png" descr="image.png"/>
          <p:cNvPicPr/>
          <p:nvPr/>
        </p:nvPicPr>
        <p:blipFill>
          <a:blip r:embed="rId2"/>
          <a:stretch/>
        </p:blipFill>
        <p:spPr>
          <a:xfrm>
            <a:off x="6159600" y="1025640"/>
            <a:ext cx="5800680" cy="5099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Univariate Analysis — Price Distribution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490680" y="2868909"/>
            <a:ext cx="5607000" cy="1337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20600" indent="-12060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Insight</a:t>
            </a: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20600" indent="-12060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Strong price clustering in the EUR 40k–70k competitive band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20600" indent="-12060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Right-skewed — few ultra-premium models pull the mean upward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20600" indent="-12060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EUR 40k–70k is the primary battleground for mainstream EV buyers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image12.png" descr="image.png"/>
          <p:cNvPicPr/>
          <p:nvPr/>
        </p:nvPicPr>
        <p:blipFill>
          <a:blip r:embed="rId2"/>
          <a:stretch/>
        </p:blipFill>
        <p:spPr>
          <a:xfrm>
            <a:off x="6097680" y="1378080"/>
            <a:ext cx="5800680" cy="5100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53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Univariate Analysis — Battery &amp; Segment Distribution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344520" y="4230720"/>
            <a:ext cx="11409480" cy="21478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39680" indent="-139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600" b="1" spc="-1" dirty="0">
                <a:solidFill>
                  <a:srgbClr val="CC0000"/>
                </a:solidFill>
                <a:latin typeface="Calibri"/>
                <a:ea typeface="Calibri"/>
              </a:rPr>
              <a:t>Battery kWh Insight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~70 kWh is the industry sweet spot: balances cost, weight, and range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Range spans 20 kWh (city EVs) to 130+ kWh (premium long-range)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600" b="1" spc="-1" dirty="0">
                <a:solidFill>
                  <a:srgbClr val="CC0000"/>
                </a:solidFill>
                <a:latin typeface="Calibri"/>
                <a:ea typeface="Calibri"/>
              </a:rPr>
              <a:t>Segment Count Insight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D-Large and SUV segments dominate, targeting mainstream family buyers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A-Mini and B-Compact segments are niche and urban commuter focus.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image13.png" descr="image.png"/>
          <p:cNvPicPr/>
          <p:nvPr/>
        </p:nvPicPr>
        <p:blipFill>
          <a:blip r:embed="rId2"/>
          <a:stretch/>
        </p:blipFill>
        <p:spPr>
          <a:xfrm>
            <a:off x="298440" y="1378080"/>
            <a:ext cx="5699160" cy="2701800"/>
          </a:xfrm>
          <a:prstGeom prst="rect">
            <a:avLst/>
          </a:prstGeom>
          <a:ln w="0">
            <a:noFill/>
          </a:ln>
        </p:spPr>
      </p:pic>
      <p:pic>
        <p:nvPicPr>
          <p:cNvPr id="157" name="image14.png" descr="image.png"/>
          <p:cNvPicPr/>
          <p:nvPr/>
        </p:nvPicPr>
        <p:blipFill>
          <a:blip r:embed="rId3"/>
          <a:stretch/>
        </p:blipFill>
        <p:spPr>
          <a:xfrm>
            <a:off x="6097680" y="1378080"/>
            <a:ext cx="5800680" cy="2701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57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Bivariate Analysis — Battery Capacity vs Driving Range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344520" y="1409760"/>
            <a:ext cx="5607000" cy="10372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54080" indent="-1540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Insight</a:t>
            </a: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54080" indent="-1540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Strong positive correlation (r ~ 0.85) — battery is primary range driver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54080" indent="-1540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Confirms battery size as the central engineering variable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15.png" descr="image.png"/>
          <p:cNvPicPr/>
          <p:nvPr/>
        </p:nvPicPr>
        <p:blipFill>
          <a:blip r:embed="rId2"/>
          <a:stretch/>
        </p:blipFill>
        <p:spPr>
          <a:xfrm>
            <a:off x="5889600" y="941400"/>
            <a:ext cx="5997600" cy="5268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60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Bivariate Analysis — Price vs Range &amp; Segment vs Price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344520" y="4230720"/>
            <a:ext cx="11409480" cy="20093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39680" indent="-139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Price </a:t>
            </a:r>
            <a:r>
              <a:rPr lang="en-US" sz="1500" b="1" spc="-1" dirty="0" err="1">
                <a:solidFill>
                  <a:srgbClr val="CC0000"/>
                </a:solidFill>
                <a:latin typeface="Calibri"/>
                <a:ea typeface="Calibri"/>
              </a:rPr>
              <a:t>vs</a:t>
            </a: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 Range Insight</a:t>
            </a: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Moderate positive correlation; some mid-range vehicles match premium range at lower price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Technology differences between brands create efficiency gaps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Segment </a:t>
            </a:r>
            <a:r>
              <a:rPr lang="en-US" sz="1500" b="1" spc="-1" dirty="0" err="1">
                <a:solidFill>
                  <a:srgbClr val="CC0000"/>
                </a:solidFill>
                <a:latin typeface="Calibri"/>
                <a:ea typeface="Calibri"/>
              </a:rPr>
              <a:t>vs</a:t>
            </a: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 Price Insight</a:t>
            </a: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Luxury segments show significantly wider and higher price distributions (box plot)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Price premium in luxury reflects brand positioning, not just engineering specs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image16.png" descr="image.png"/>
          <p:cNvPicPr/>
          <p:nvPr/>
        </p:nvPicPr>
        <p:blipFill>
          <a:blip r:embed="rId2"/>
          <a:stretch/>
        </p:blipFill>
        <p:spPr>
          <a:xfrm>
            <a:off x="298440" y="1378080"/>
            <a:ext cx="5699160" cy="2701800"/>
          </a:xfrm>
          <a:prstGeom prst="rect">
            <a:avLst/>
          </a:prstGeom>
          <a:ln w="0">
            <a:noFill/>
          </a:ln>
        </p:spPr>
      </p:pic>
      <p:pic>
        <p:nvPicPr>
          <p:cNvPr id="164" name="image17.png" descr="image.png"/>
          <p:cNvPicPr/>
          <p:nvPr/>
        </p:nvPicPr>
        <p:blipFill>
          <a:blip r:embed="rId3"/>
          <a:stretch/>
        </p:blipFill>
        <p:spPr>
          <a:xfrm>
            <a:off x="6097680" y="1378080"/>
            <a:ext cx="5800680" cy="2701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Multivariate Analysis — EV Market Positioning by Segment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587712" y="2343615"/>
            <a:ext cx="5607000" cy="20093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12680" indent="-112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Insight</a:t>
            </a:r>
          </a:p>
          <a:p>
            <a:pPr marL="112680" indent="-112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12680" indent="-112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Clear segment clustering visible across price-range spectrum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12680" indent="-112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C-segment: moderate price, moderate range — best value positioning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12680" indent="-112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D-segment: higher range, moderate premium — family-oriented value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12680" indent="-112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Luxury segments: highest price but NOT proportionally higher range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18.png" descr="image.png"/>
          <p:cNvPicPr/>
          <p:nvPr/>
        </p:nvPicPr>
        <p:blipFill>
          <a:blip r:embed="rId2"/>
          <a:stretch/>
        </p:blipFill>
        <p:spPr>
          <a:xfrm>
            <a:off x="6097680" y="1378080"/>
            <a:ext cx="5800680" cy="5100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250920" y="468864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Multivariate Analysis — Consumer Value &amp; Efficiency by Segment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344520" y="4220992"/>
            <a:ext cx="11409480" cy="20093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39680" indent="-139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Price per km Insight (Consumer Value)</a:t>
            </a: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C-segment consistently delivers lowest cost per km that means best consumer value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Luxury segments show highest and most variable price per km ratios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Range per kWh Insight (Efficiency)</a:t>
            </a: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Compact segments achieve best range that means lighter vehicles = more efficient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Larger luxury vehicles sacrifice efficiency due to increased weight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19.png" descr="image.png"/>
          <p:cNvPicPr/>
          <p:nvPr/>
        </p:nvPicPr>
        <p:blipFill>
          <a:blip r:embed="rId2"/>
          <a:stretch/>
        </p:blipFill>
        <p:spPr>
          <a:xfrm>
            <a:off x="298440" y="1368352"/>
            <a:ext cx="5699160" cy="2701800"/>
          </a:xfrm>
          <a:prstGeom prst="rect">
            <a:avLst/>
          </a:prstGeom>
          <a:ln w="0">
            <a:noFill/>
          </a:ln>
        </p:spPr>
      </p:pic>
      <p:pic>
        <p:nvPicPr>
          <p:cNvPr id="171" name="image20.png" descr="image.png"/>
          <p:cNvPicPr/>
          <p:nvPr/>
        </p:nvPicPr>
        <p:blipFill>
          <a:blip r:embed="rId3"/>
          <a:stretch/>
        </p:blipFill>
        <p:spPr>
          <a:xfrm>
            <a:off x="6097680" y="1368352"/>
            <a:ext cx="5800680" cy="2701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Multivariate Analysis — Charging Speed &amp; Correlation Analysis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44520" y="4230720"/>
            <a:ext cx="11409480" cy="11590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39680" indent="-13968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600" b="1" spc="-1" dirty="0">
                <a:solidFill>
                  <a:srgbClr val="CC0000"/>
                </a:solidFill>
                <a:latin typeface="Calibri"/>
                <a:ea typeface="Calibri"/>
              </a:rPr>
              <a:t>Charging Speed Insight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600" b="0" spc="-1" dirty="0">
                <a:solidFill>
                  <a:srgbClr val="000000"/>
                </a:solidFill>
                <a:latin typeface="Calibri"/>
                <a:ea typeface="Calibri"/>
              </a:rPr>
              <a:t>Higher segments generally support faster charging (kW/kWh)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600" b="0" spc="-1" dirty="0">
                <a:solidFill>
                  <a:srgbClr val="000000"/>
                </a:solidFill>
                <a:latin typeface="Calibri"/>
                <a:ea typeface="Calibri"/>
              </a:rPr>
              <a:t>Improves long-distance usability for premium segment buyers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image21.png" descr="image.png"/>
          <p:cNvPicPr/>
          <p:nvPr/>
        </p:nvPicPr>
        <p:blipFill>
          <a:blip r:embed="rId2"/>
          <a:stretch/>
        </p:blipFill>
        <p:spPr>
          <a:xfrm>
            <a:off x="2302338" y="1144616"/>
            <a:ext cx="5699160" cy="2701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" dirty="0">
                <a:solidFill>
                  <a:srgbClr val="CC0000"/>
                </a:solidFill>
                <a:latin typeface="Calibri"/>
                <a:ea typeface="Calibri"/>
              </a:rPr>
              <a:t>Correlation </a:t>
            </a:r>
            <a:r>
              <a:rPr lang="en-US" b="1" spc="-1" dirty="0" err="1">
                <a:solidFill>
                  <a:srgbClr val="CC0000"/>
                </a:solidFill>
                <a:latin typeface="Calibri"/>
                <a:ea typeface="Calibri"/>
              </a:rPr>
              <a:t>Heatmap</a:t>
            </a:r>
            <a:r>
              <a:rPr lang="en-US" b="1" spc="-1" dirty="0">
                <a:solidFill>
                  <a:srgbClr val="CC0000"/>
                </a:solidFill>
                <a:latin typeface="Calibri"/>
                <a:ea typeface="Calibri"/>
              </a:rPr>
              <a:t> Insight</a:t>
            </a:r>
            <a:br>
              <a:rPr lang="en-US" spc="-1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608040" y="4834647"/>
            <a:ext cx="10972800" cy="1780162"/>
          </a:xfrm>
        </p:spPr>
        <p:txBody>
          <a:bodyPr>
            <a:normAutofit/>
          </a:bodyPr>
          <a:lstStyle/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2000" spc="-1" dirty="0" err="1">
                <a:solidFill>
                  <a:srgbClr val="000000"/>
                </a:solidFill>
                <a:latin typeface="Calibri"/>
                <a:ea typeface="Calibri"/>
              </a:rPr>
              <a:t>battery_kwh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/>
              </a:rPr>
              <a:t> ↔ </a:t>
            </a:r>
            <a:r>
              <a:rPr lang="en-US" sz="2000" spc="-1" dirty="0" err="1">
                <a:solidFill>
                  <a:srgbClr val="000000"/>
                </a:solidFill>
                <a:latin typeface="Calibri"/>
                <a:ea typeface="Calibri"/>
              </a:rPr>
              <a:t>range_km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/>
              </a:rPr>
              <a:t>: r ~ 0.85 | </a:t>
            </a:r>
            <a:r>
              <a:rPr lang="en-US" sz="2000" spc="-1" dirty="0" err="1">
                <a:solidFill>
                  <a:srgbClr val="000000"/>
                </a:solidFill>
                <a:latin typeface="Calibri"/>
                <a:ea typeface="Calibri"/>
              </a:rPr>
              <a:t>germany_price_eur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/>
              </a:rPr>
              <a:t> ↔ </a:t>
            </a:r>
            <a:r>
              <a:rPr lang="en-US" sz="2000" spc="-1" dirty="0" err="1">
                <a:solidFill>
                  <a:srgbClr val="000000"/>
                </a:solidFill>
                <a:latin typeface="Calibri"/>
                <a:ea typeface="Calibri"/>
              </a:rPr>
              <a:t>battery_kwh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/>
              </a:rPr>
              <a:t>: r ~ 0.80</a:t>
            </a:r>
            <a:endParaRPr lang="en-US" sz="2000" spc="-1" dirty="0">
              <a:solidFill>
                <a:srgbClr val="000000"/>
              </a:solidFill>
            </a:endParaRPr>
          </a:p>
          <a:p>
            <a:pPr marL="139680" indent="-13968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alibri"/>
                <a:ea typeface="Calibri"/>
              </a:rPr>
              <a:t>Battery capacity is the central variable driving both range and price</a:t>
            </a:r>
            <a:endParaRPr lang="en-US" sz="2000" spc="-1" dirty="0">
              <a:solidFill>
                <a:srgbClr val="000000"/>
              </a:solidFill>
            </a:endParaRPr>
          </a:p>
          <a:p>
            <a:endParaRPr lang="en-US" sz="2000" dirty="0"/>
          </a:p>
        </p:txBody>
      </p:sp>
      <p:pic>
        <p:nvPicPr>
          <p:cNvPr id="4" name="image22.png" descr="Unknown.png"/>
          <p:cNvPicPr/>
          <p:nvPr/>
        </p:nvPicPr>
        <p:blipFill>
          <a:blip r:embed="rId2"/>
          <a:stretch/>
        </p:blipFill>
        <p:spPr>
          <a:xfrm>
            <a:off x="2863548" y="843840"/>
            <a:ext cx="5389560" cy="41227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715595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75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Visualization Insights — EV Market Value Map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412613" y="2499258"/>
            <a:ext cx="5607000" cy="18847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28520" indent="-128520">
              <a:lnSpc>
                <a:spcPct val="15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100" b="0" spc="-1" dirty="0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Strategic Insight</a:t>
            </a: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Market equilibrium: EUR 40k–70k with 350–450 km is the dominant zone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Entry-level EVs target price-sensitive consumers but sacrifice range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Luxury EVs charge 2–3x premium vs mid-range, delivering only 20–30% more range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23.png" descr="image.png"/>
          <p:cNvPicPr/>
          <p:nvPr/>
        </p:nvPicPr>
        <p:blipFill>
          <a:blip r:embed="rId3"/>
          <a:stretch/>
        </p:blipFill>
        <p:spPr>
          <a:xfrm>
            <a:off x="6097680" y="1378080"/>
            <a:ext cx="5800680" cy="5100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Visualization Insights — Consumer Value Frontier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390600" y="5565600"/>
            <a:ext cx="11409120" cy="10049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35000" indent="-13500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500" b="1" spc="-1" dirty="0">
                <a:solidFill>
                  <a:srgbClr val="CC0000"/>
                </a:solidFill>
                <a:latin typeface="Calibri"/>
                <a:ea typeface="Calibri"/>
              </a:rPr>
              <a:t>Consumer Value Frontier Insight</a:t>
            </a:r>
            <a:endParaRPr lang="en-US" sz="1500" b="0" spc="-1" dirty="0">
              <a:solidFill>
                <a:srgbClr val="000000"/>
              </a:solidFill>
              <a:latin typeface="Arial"/>
            </a:endParaRPr>
          </a:p>
          <a:p>
            <a:pPr marL="135000" indent="-13500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Mid-size segments (C/D) deliver strongest value: competitive range at lower price/km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  <a:p>
            <a:pPr marL="135000" indent="-13500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</a:tabLst>
            </a:pPr>
            <a:r>
              <a:rPr lang="en-US" sz="1300" b="0" spc="-1" dirty="0">
                <a:solidFill>
                  <a:srgbClr val="000000"/>
                </a:solidFill>
                <a:latin typeface="Calibri"/>
                <a:ea typeface="Calibri"/>
              </a:rPr>
              <a:t>Premium segments command significant cost-per-km premiums without proportional range gains</a:t>
            </a:r>
            <a:endParaRPr lang="en-US" sz="13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24.png" descr="image.png"/>
          <p:cNvPicPr/>
          <p:nvPr/>
        </p:nvPicPr>
        <p:blipFill>
          <a:blip r:embed="rId2"/>
          <a:stretch/>
        </p:blipFill>
        <p:spPr>
          <a:xfrm>
            <a:off x="2732040" y="898560"/>
            <a:ext cx="8263080" cy="453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81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Final Insights &amp; Conclusion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727200" y="1405080"/>
            <a:ext cx="10423440" cy="42418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77840" indent="-17784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600" b="1" spc="-1" dirty="0">
                <a:solidFill>
                  <a:srgbClr val="CC0000"/>
                </a:solidFill>
                <a:latin typeface="Calibri"/>
                <a:ea typeface="Calibri"/>
              </a:rPr>
              <a:t>1. Market Structure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EV market is dominated by mid-size (C/D) and large segments — greatest volume opportunity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600" b="1" spc="-1" dirty="0">
                <a:solidFill>
                  <a:srgbClr val="CC0000"/>
                </a:solidFill>
                <a:latin typeface="Calibri"/>
                <a:ea typeface="Calibri"/>
              </a:rPr>
              <a:t>2. Value Leadership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C-segment EVs consistently lead on consumer value metrics </a:t>
            </a:r>
            <a:endParaRPr lang="en-US" sz="14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600" b="1" spc="-1" dirty="0">
                <a:solidFill>
                  <a:srgbClr val="CC0000"/>
                </a:solidFill>
                <a:latin typeface="Calibri"/>
                <a:ea typeface="Calibri"/>
              </a:rPr>
              <a:t>3. Efficiency Gap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Premium EVs sacrifice energy efficiency for vehicle weight and performance tuning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Compact segments achieve best range— physics and aerodynamics advantage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600" b="1" spc="-1" dirty="0">
                <a:solidFill>
                  <a:srgbClr val="CC0000"/>
                </a:solidFill>
                <a:latin typeface="Calibri"/>
                <a:ea typeface="Calibri"/>
              </a:rPr>
              <a:t>4. Price Premium Reality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Luxury price premiums are primarily brand-driven, not engineering-driven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2–3x price premium delivers only 20–30% additional driving range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600" b="1" spc="-1" dirty="0">
                <a:solidFill>
                  <a:srgbClr val="CC0000"/>
                </a:solidFill>
                <a:latin typeface="Calibri"/>
                <a:ea typeface="Calibri"/>
              </a:rPr>
              <a:t>5. Battery Optimization</a:t>
            </a:r>
            <a:endParaRPr lang="en-US" sz="1600" b="0" spc="-1" dirty="0">
              <a:solidFill>
                <a:srgbClr val="000000"/>
              </a:solidFill>
              <a:latin typeface="Arial"/>
            </a:endParaRPr>
          </a:p>
          <a:p>
            <a:pPr marL="177840" indent="-177840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~70 kWh is the market-optimal battery — efficiency and cost balanced beyond this is diminishing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83"/>
          <p:cNvSpPr/>
          <p:nvPr/>
        </p:nvSpPr>
        <p:spPr>
          <a:xfrm>
            <a:off x="250920" y="478592"/>
            <a:ext cx="10423440" cy="454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</a:rPr>
              <a:t>Recommendations</a:t>
            </a:r>
            <a:endParaRPr lang="en-US" sz="2800" b="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345960" y="1195560"/>
            <a:ext cx="10423800" cy="45162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 marL="193680" indent="-193680" algn="just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700" b="1" spc="-1" dirty="0">
                <a:solidFill>
                  <a:srgbClr val="CC0000"/>
                </a:solidFill>
                <a:latin typeface="Calibri"/>
                <a:ea typeface="Calibri"/>
              </a:rPr>
              <a:t>For Consumers</a:t>
            </a:r>
            <a:endParaRPr lang="en-US" sz="17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Best value: Choose C or D segment EVs in the EUR 45k–65k range for optimal price-per-km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Urban buyers: A/B segment EVs are cost-efficient for daily commutes under 200 km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Prioritize range over battery size — efficiency matters more than raw capacity</a:t>
            </a:r>
          </a:p>
          <a:p>
            <a:pPr algn="just">
              <a:lnSpc>
                <a:spcPct val="150000"/>
              </a:lnSpc>
              <a:buClr>
                <a:srgbClr val="000000"/>
              </a:buClr>
              <a:buSzPct val="4500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700" b="1" spc="-1" dirty="0">
                <a:solidFill>
                  <a:srgbClr val="CC0000"/>
                </a:solidFill>
                <a:latin typeface="Calibri"/>
                <a:ea typeface="Calibri"/>
              </a:rPr>
              <a:t>For Manufacturers</a:t>
            </a:r>
            <a:endParaRPr lang="en-US" sz="17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Invest in range R&amp;D — efficiency improvements create sustainable competitive advantage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Price strategically in C/D segment: value transparency builds consumer trust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Expand fast-charging compatibility across all segments to improve adoption rates</a:t>
            </a:r>
          </a:p>
          <a:p>
            <a:pPr algn="just">
              <a:lnSpc>
                <a:spcPct val="150000"/>
              </a:lnSpc>
              <a:buClr>
                <a:srgbClr val="000000"/>
              </a:buClr>
              <a:buSzPct val="4500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spcBef>
                <a:spcPts val="20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700" b="1" spc="-1" dirty="0">
                <a:solidFill>
                  <a:srgbClr val="CC0000"/>
                </a:solidFill>
                <a:latin typeface="Calibri"/>
                <a:ea typeface="Calibri"/>
              </a:rPr>
              <a:t>For Policymakers</a:t>
            </a:r>
            <a:endParaRPr lang="en-US" sz="17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Incentivize C/D segment EV purchases to maximize consumer adoption and market growth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  <a:p>
            <a:pPr marL="193680" indent="-193680" algn="just">
              <a:lnSpc>
                <a:spcPct val="150000"/>
              </a:lnSpc>
              <a:buClr>
                <a:srgbClr val="000000"/>
              </a:buClr>
              <a:buSzPct val="45000"/>
              <a:buFont typeface="Calibri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spc="-1" dirty="0">
                <a:solidFill>
                  <a:srgbClr val="000000"/>
                </a:solidFill>
                <a:latin typeface="Calibri"/>
                <a:ea typeface="Calibri"/>
              </a:rPr>
              <a:t>Support charging infrastructure expansion — critical enabler for higher-segment EV adoption</a:t>
            </a:r>
            <a:endParaRPr lang="en-US" sz="1400" b="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image25.png" descr="image.png"/>
          <p:cNvPicPr/>
          <p:nvPr/>
        </p:nvPicPr>
        <p:blipFill>
          <a:blip r:embed="rId2"/>
          <a:stretch/>
        </p:blipFill>
        <p:spPr>
          <a:xfrm>
            <a:off x="6465960" y="1851120"/>
            <a:ext cx="4464000" cy="2832120"/>
          </a:xfrm>
          <a:prstGeom prst="rect">
            <a:avLst/>
          </a:prstGeom>
          <a:ln w="0">
            <a:noFill/>
          </a:ln>
        </p:spPr>
      </p:pic>
      <p:sp>
        <p:nvSpPr>
          <p:cNvPr id="187" name="Rectangle 186"/>
          <p:cNvSpPr/>
          <p:nvPr/>
        </p:nvSpPr>
        <p:spPr>
          <a:xfrm>
            <a:off x="1335240" y="3033720"/>
            <a:ext cx="3479760" cy="71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spAutoFit/>
          </a:bodyPr>
          <a:lstStyle/>
          <a:p>
            <a:pPr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pc="-1">
                <a:solidFill>
                  <a:srgbClr val="C00000"/>
                </a:solidFill>
                <a:latin typeface="Arial"/>
              </a:rPr>
              <a:t>THANK YOU</a:t>
            </a:r>
            <a:endParaRPr lang="en-US" sz="4400" b="0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2139</Words>
  <Application>Microsoft Office PowerPoint</Application>
  <PresentationFormat>Custom</PresentationFormat>
  <Paragraphs>294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Courier New</vt:lpstr>
      <vt:lpstr>Lato Black</vt:lpstr>
      <vt:lpstr>Times New Roman</vt:lpstr>
      <vt:lpstr>Office</vt:lpstr>
      <vt:lpstr>Office</vt:lpstr>
      <vt:lpstr>Office</vt:lpstr>
      <vt:lpstr>PowerPoint Presentation</vt:lpstr>
      <vt:lpstr>PowerPoint Presentation</vt:lpstr>
      <vt:lpstr>PowerPoint Presentation</vt:lpstr>
      <vt:lpstr>Website 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Duplicate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Correlation Heatmap Insight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tulluri venkata vinay kumar</cp:lastModifiedBy>
  <cp:revision>11</cp:revision>
  <dcterms:modified xsi:type="dcterms:W3CDTF">2026-03-11T10:18:41Z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